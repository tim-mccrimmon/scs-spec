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5" r:id="rId2"/>
    <p:sldId id="343" r:id="rId3"/>
    <p:sldId id="327" r:id="rId4"/>
    <p:sldId id="3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4F"/>
    <a:srgbClr val="16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0"/>
    <p:restoredTop sz="94731"/>
  </p:normalViewPr>
  <p:slideViewPr>
    <p:cSldViewPr snapToGrid="0">
      <p:cViewPr varScale="1">
        <p:scale>
          <a:sx n="148" d="100"/>
          <a:sy n="148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D3A3-438C-C936-67D1-67B720F11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2E464-93A6-25D0-F1C0-71626357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4610F-0622-FC6A-0DB3-DDC3CAD6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F94C-9C3C-FE7E-CB6B-494B9BA4209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842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0121-789C-DFA2-4702-65BC187B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870E8-A8B3-9C54-563E-A23683BB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B04A96-2308-F741-292C-A783E6EA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0B9B6-8F56-F42F-F828-BE7E5DE92262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5230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4361-5738-457B-1F9F-B9D72A3A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C0C6E-8478-B8BC-0D58-D3079E8D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2576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CC79C4-45B2-8FA7-14B0-E6E2C40C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B3DE9-B96F-3293-A89F-34C44B7AC9DA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20947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9194-C4AD-2779-EB64-F50DB4A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61FA8-24D6-2A18-8F5D-F445A6F8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68882-01B4-FF9D-C694-2AE3704BA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71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B03D38-17DF-D93D-72D5-92DDC9AE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59F96-933A-933B-5962-7BE680CFA5E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473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B048-F193-8E85-1D7E-36F47F94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D54AB-6B3F-0A4B-C26A-E57ABAC6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8B54-6FBE-936C-8556-C45BB0419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EDE43-58E6-C70D-5CA2-19C92F057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24D93-7559-117E-0C16-216E59A6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75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8783311-DB0D-9662-13AF-ED55DCE7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CB803-5373-4377-7F96-0AABC3893EB7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9281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78E8-7282-983D-D137-03EDE432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0137B12-8189-1F54-498D-C19712B7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F1B12-02A4-5F5D-8369-7AB9A722B810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9682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FC769A-DAF3-D354-8A6E-34C2E2A2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94D9C-2F49-D479-9F75-C52F078B8B7E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12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201C-51F4-F65C-60DE-0D0E559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F9D6-D7F8-0371-CF28-3EB82775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63BD5-ED20-C7E3-673C-DEFDCDD3B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3416"/>
            <a:ext cx="3932237" cy="35955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B8B0F81-3ADC-2F50-284E-510B4988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1B5BD-11FF-CA36-EB57-DC39DCDC9E8D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8388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3346-2C94-02D9-0004-30C8D427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0F88B-3EAD-342C-BC68-906A70582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60BC4-B92B-4891-2088-5C313807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1472"/>
            <a:ext cx="3932237" cy="36375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7182F7B-0B19-7B81-8838-785B2ED2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9B1-FF5E-6F5A-355D-91DAC94242D5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457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C078-E438-4BFA-4C48-1EEC084C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DEF05-4131-D39F-21C4-FE609F70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BCAAAD-08D3-CCF0-758A-4D5E545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0E6FF-D6A3-AE47-22AA-A8C0D428FEE8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259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B0819-B110-F0BF-7EF0-E3E54EEDA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549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735A-E9B1-7FC9-237B-20BC7EFC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54911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8541BA-289F-D42A-F5F0-EA97661A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D35A94-27D5-F943-9E22-FF249660658B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396F1-DEFF-ECF0-E013-EF948793B8C1}"/>
              </a:ext>
            </a:extLst>
          </p:cNvPr>
          <p:cNvSpPr txBox="1"/>
          <p:nvPr userDrawn="1"/>
        </p:nvSpPr>
        <p:spPr>
          <a:xfrm>
            <a:off x="8969036" y="6243698"/>
            <a:ext cx="2769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2025 Timothy McCrimmon. Context Engineering Development Model™ (CEDM).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999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A58F0-9BC3-AA6D-C0A9-566341D6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48E01-589E-E1AE-A303-B6E9AD9AA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8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C095-DDF6-9109-0938-BE3A25B1F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35A94-27D5-F943-9E22-FF249660658B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9051-563A-F4A9-32D1-A6F20D07E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BD30F-380F-C749-FE13-3E189E82C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6C6A-1D41-0F4A-A30D-D15EB165DB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3ED2A-83C2-5676-1A85-8F4B5D0EA109}"/>
              </a:ext>
            </a:extLst>
          </p:cNvPr>
          <p:cNvSpPr/>
          <p:nvPr userDrawn="1"/>
        </p:nvSpPr>
        <p:spPr>
          <a:xfrm>
            <a:off x="0" y="6044825"/>
            <a:ext cx="12192000" cy="813175"/>
          </a:xfrm>
          <a:prstGeom prst="rect">
            <a:avLst/>
          </a:prstGeom>
          <a:solidFill>
            <a:srgbClr val="002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13346F5-600E-F855-62E6-88E278E565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36550" b="32722"/>
          <a:stretch>
            <a:fillRect/>
          </a:stretch>
        </p:blipFill>
        <p:spPr>
          <a:xfrm>
            <a:off x="4772790" y="6044824"/>
            <a:ext cx="2646420" cy="81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5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322B3-C2B5-8FF9-D217-D912BB09B919}"/>
              </a:ext>
            </a:extLst>
          </p:cNvPr>
          <p:cNvSpPr/>
          <p:nvPr/>
        </p:nvSpPr>
        <p:spPr>
          <a:xfrm>
            <a:off x="3331597" y="389614"/>
            <a:ext cx="3387255" cy="51762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B44FF-0AFE-5CD8-99F0-17ADC83E6D0F}"/>
              </a:ext>
            </a:extLst>
          </p:cNvPr>
          <p:cNvSpPr/>
          <p:nvPr/>
        </p:nvSpPr>
        <p:spPr>
          <a:xfrm>
            <a:off x="3991551" y="1485033"/>
            <a:ext cx="1969273" cy="5314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6F2AB-C164-D643-A302-6050F3DA2B63}"/>
              </a:ext>
            </a:extLst>
          </p:cNvPr>
          <p:cNvSpPr/>
          <p:nvPr/>
        </p:nvSpPr>
        <p:spPr>
          <a:xfrm>
            <a:off x="3991543" y="2559596"/>
            <a:ext cx="1969273" cy="74219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nip and Round Single Corner Rectangle 12">
            <a:extLst>
              <a:ext uri="{FF2B5EF4-FFF2-40B4-BE49-F238E27FC236}">
                <a16:creationId xmlns:a16="http://schemas.microsoft.com/office/drawing/2014/main" id="{05F38BEA-49B6-CF1D-3211-F59D0192BF04}"/>
              </a:ext>
            </a:extLst>
          </p:cNvPr>
          <p:cNvSpPr/>
          <p:nvPr/>
        </p:nvSpPr>
        <p:spPr>
          <a:xfrm>
            <a:off x="3466248" y="610869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16199-F1BE-9456-EECE-07B706913542}"/>
              </a:ext>
            </a:extLst>
          </p:cNvPr>
          <p:cNvSpPr/>
          <p:nvPr/>
        </p:nvSpPr>
        <p:spPr>
          <a:xfrm>
            <a:off x="3991548" y="3736438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775D59-BD09-AFAE-3289-316E5A467D71}"/>
              </a:ext>
            </a:extLst>
          </p:cNvPr>
          <p:cNvSpPr/>
          <p:nvPr/>
        </p:nvSpPr>
        <p:spPr>
          <a:xfrm>
            <a:off x="3991544" y="4048196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D8A470-74FE-4888-3FC8-BA77B24211DF}"/>
              </a:ext>
            </a:extLst>
          </p:cNvPr>
          <p:cNvSpPr/>
          <p:nvPr/>
        </p:nvSpPr>
        <p:spPr>
          <a:xfrm>
            <a:off x="3991543" y="4576207"/>
            <a:ext cx="1969273" cy="26535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556DB4-1F27-F88E-8477-3E2EC791EEB6}"/>
              </a:ext>
            </a:extLst>
          </p:cNvPr>
          <p:cNvSpPr txBox="1"/>
          <p:nvPr/>
        </p:nvSpPr>
        <p:spPr>
          <a:xfrm>
            <a:off x="4822319" y="4175289"/>
            <a:ext cx="55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...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A031E-04EA-EA16-EC77-E20FFADE7260}"/>
              </a:ext>
            </a:extLst>
          </p:cNvPr>
          <p:cNvSpPr txBox="1"/>
          <p:nvPr/>
        </p:nvSpPr>
        <p:spPr>
          <a:xfrm>
            <a:off x="1419282" y="371193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Project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B050"/>
                </a:solidFill>
              </a:rPr>
              <a:t>1 per project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B050"/>
                </a:solidFill>
              </a:rPr>
              <a:t>Versioned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FB5C3A-E671-FBAB-F937-26D4BB71782A}"/>
              </a:ext>
            </a:extLst>
          </p:cNvPr>
          <p:cNvSpPr txBox="1"/>
          <p:nvPr/>
        </p:nvSpPr>
        <p:spPr>
          <a:xfrm>
            <a:off x="267427" y="1365547"/>
            <a:ext cx="2844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Meta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1 per project bundle, root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Versioned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1D80A-57D0-C77F-CC8F-F10ED02FA3FA}"/>
              </a:ext>
            </a:extLst>
          </p:cNvPr>
          <p:cNvSpPr txBox="1"/>
          <p:nvPr/>
        </p:nvSpPr>
        <p:spPr>
          <a:xfrm>
            <a:off x="267427" y="2359901"/>
            <a:ext cx="2844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Standards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1 per project bundle, root bundle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May contain other bundles (HIPAA or SOC2) or SCDs (corporate standards)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0070C0"/>
                </a:solidFill>
              </a:rPr>
              <a:t>Versioned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29B3FA-8D0D-1F6E-72EA-644B6A1B855F}"/>
              </a:ext>
            </a:extLst>
          </p:cNvPr>
          <p:cNvSpPr txBox="1"/>
          <p:nvPr/>
        </p:nvSpPr>
        <p:spPr>
          <a:xfrm>
            <a:off x="267427" y="3871988"/>
            <a:ext cx="25153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Domain Bundles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10 core bundles, no duplicates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Contains only SCDs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7030A0"/>
                </a:solidFill>
              </a:rPr>
              <a:t>Customer may add more but the 10 core are the minimum prescribed set.</a:t>
            </a:r>
          </a:p>
        </p:txBody>
      </p:sp>
      <p:sp>
        <p:nvSpPr>
          <p:cNvPr id="25" name="Snip and Round Single Corner Rectangle 24">
            <a:extLst>
              <a:ext uri="{FF2B5EF4-FFF2-40B4-BE49-F238E27FC236}">
                <a16:creationId xmlns:a16="http://schemas.microsoft.com/office/drawing/2014/main" id="{96EDE83A-53A8-033F-8FF3-49BCA416B094}"/>
              </a:ext>
            </a:extLst>
          </p:cNvPr>
          <p:cNvSpPr/>
          <p:nvPr/>
        </p:nvSpPr>
        <p:spPr>
          <a:xfrm>
            <a:off x="4058595" y="1532619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6" name="Snip and Round Single Corner Rectangle 25">
            <a:extLst>
              <a:ext uri="{FF2B5EF4-FFF2-40B4-BE49-F238E27FC236}">
                <a16:creationId xmlns:a16="http://schemas.microsoft.com/office/drawing/2014/main" id="{040ED393-4AA3-09D7-3F60-3756270A6928}"/>
              </a:ext>
            </a:extLst>
          </p:cNvPr>
          <p:cNvSpPr/>
          <p:nvPr/>
        </p:nvSpPr>
        <p:spPr>
          <a:xfrm>
            <a:off x="4058595" y="2625972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7" name="Snip and Round Single Corner Rectangle 26">
            <a:extLst>
              <a:ext uri="{FF2B5EF4-FFF2-40B4-BE49-F238E27FC236}">
                <a16:creationId xmlns:a16="http://schemas.microsoft.com/office/drawing/2014/main" id="{B6D3F936-8F3C-633D-1F8B-3DC789746844}"/>
              </a:ext>
            </a:extLst>
          </p:cNvPr>
          <p:cNvSpPr/>
          <p:nvPr/>
        </p:nvSpPr>
        <p:spPr>
          <a:xfrm>
            <a:off x="4048331" y="3792721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8" name="Snip and Round Single Corner Rectangle 27">
            <a:extLst>
              <a:ext uri="{FF2B5EF4-FFF2-40B4-BE49-F238E27FC236}">
                <a16:creationId xmlns:a16="http://schemas.microsoft.com/office/drawing/2014/main" id="{3703A1D0-11F7-9839-F6C3-0F0D8BD5B763}"/>
              </a:ext>
            </a:extLst>
          </p:cNvPr>
          <p:cNvSpPr/>
          <p:nvPr/>
        </p:nvSpPr>
        <p:spPr>
          <a:xfrm>
            <a:off x="4048331" y="4104554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29" name="Snip and Round Single Corner Rectangle 28">
            <a:extLst>
              <a:ext uri="{FF2B5EF4-FFF2-40B4-BE49-F238E27FC236}">
                <a16:creationId xmlns:a16="http://schemas.microsoft.com/office/drawing/2014/main" id="{9141949A-7E5B-F96F-D4C4-8F966AD831C5}"/>
              </a:ext>
            </a:extLst>
          </p:cNvPr>
          <p:cNvSpPr/>
          <p:nvPr/>
        </p:nvSpPr>
        <p:spPr>
          <a:xfrm>
            <a:off x="4058595" y="4617726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9E8D85-47FA-B91B-0696-C1AC68E40BD1}"/>
              </a:ext>
            </a:extLst>
          </p:cNvPr>
          <p:cNvSpPr txBox="1"/>
          <p:nvPr/>
        </p:nvSpPr>
        <p:spPr>
          <a:xfrm>
            <a:off x="7522232" y="1263820"/>
            <a:ext cx="3899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Each bundle must contain a Manifest</a:t>
            </a:r>
          </a:p>
          <a:p>
            <a:endParaRPr lang="en-US" sz="1200" dirty="0"/>
          </a:p>
          <a:p>
            <a:r>
              <a:rPr lang="en-US" sz="1200" dirty="0"/>
              <a:t>Manifest is a special SCD with a header and lists all content (and versions of each document)</a:t>
            </a:r>
          </a:p>
          <a:p>
            <a:endParaRPr lang="en-US" sz="1200" dirty="0"/>
          </a:p>
          <a:p>
            <a:r>
              <a:rPr lang="en-US" sz="1200" dirty="0"/>
              <a:t>4 types of bundles: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Project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Meta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Standards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Domain</a:t>
            </a:r>
          </a:p>
          <a:p>
            <a:endParaRPr lang="en-US" sz="1200" dirty="0"/>
          </a:p>
          <a:p>
            <a:r>
              <a:rPr lang="en-US" sz="1200" dirty="0"/>
              <a:t>Each bundle must contain a manifest at least 2 SCDs</a:t>
            </a:r>
          </a:p>
          <a:p>
            <a:endParaRPr lang="en-US" sz="1200" dirty="0"/>
          </a:p>
          <a:p>
            <a:r>
              <a:rPr lang="en-US" sz="1200" dirty="0"/>
              <a:t>All domains require a bundle (with manifest)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950C4E-14CA-E484-450D-345B46BB534C}"/>
              </a:ext>
            </a:extLst>
          </p:cNvPr>
          <p:cNvSpPr txBox="1"/>
          <p:nvPr/>
        </p:nvSpPr>
        <p:spPr>
          <a:xfrm>
            <a:off x="4616193" y="3739611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AF19D5-3C48-92DD-C2D3-8DA786D75923}"/>
              </a:ext>
            </a:extLst>
          </p:cNvPr>
          <p:cNvSpPr txBox="1"/>
          <p:nvPr/>
        </p:nvSpPr>
        <p:spPr>
          <a:xfrm>
            <a:off x="4534440" y="2821565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Standards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EE547D-F5CB-5947-328A-0EC7DC83A337}"/>
              </a:ext>
            </a:extLst>
          </p:cNvPr>
          <p:cNvSpPr txBox="1"/>
          <p:nvPr/>
        </p:nvSpPr>
        <p:spPr>
          <a:xfrm>
            <a:off x="4711571" y="1606570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AC6AF-6648-C6D5-6C58-E81025D81D33}"/>
              </a:ext>
            </a:extLst>
          </p:cNvPr>
          <p:cNvSpPr txBox="1"/>
          <p:nvPr/>
        </p:nvSpPr>
        <p:spPr>
          <a:xfrm>
            <a:off x="4616193" y="4068136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DC5B6-6914-0C5D-E7A6-CD3F319317C2}"/>
              </a:ext>
            </a:extLst>
          </p:cNvPr>
          <p:cNvSpPr txBox="1"/>
          <p:nvPr/>
        </p:nvSpPr>
        <p:spPr>
          <a:xfrm>
            <a:off x="4616193" y="4576207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Domain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329EC6-36FF-759C-0922-44CC3FA5F21E}"/>
              </a:ext>
            </a:extLst>
          </p:cNvPr>
          <p:cNvCxnSpPr/>
          <p:nvPr/>
        </p:nvCxnSpPr>
        <p:spPr>
          <a:xfrm>
            <a:off x="2782734" y="715992"/>
            <a:ext cx="5488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39CD2A-F994-A924-E722-C70A55EF0084}"/>
              </a:ext>
            </a:extLst>
          </p:cNvPr>
          <p:cNvCxnSpPr>
            <a:stCxn id="22" idx="3"/>
          </p:cNvCxnSpPr>
          <p:nvPr/>
        </p:nvCxnSpPr>
        <p:spPr>
          <a:xfrm>
            <a:off x="3111475" y="1688713"/>
            <a:ext cx="880068" cy="10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A3FAEA-499A-4595-F168-4149EB255F9F}"/>
              </a:ext>
            </a:extLst>
          </p:cNvPr>
          <p:cNvCxnSpPr/>
          <p:nvPr/>
        </p:nvCxnSpPr>
        <p:spPr>
          <a:xfrm>
            <a:off x="3183147" y="2958860"/>
            <a:ext cx="8083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38A862B0-41BA-F780-10DB-9C291852A737}"/>
              </a:ext>
            </a:extLst>
          </p:cNvPr>
          <p:cNvSpPr/>
          <p:nvPr/>
        </p:nvSpPr>
        <p:spPr>
          <a:xfrm>
            <a:off x="3579962" y="3614470"/>
            <a:ext cx="229198" cy="1319842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38F270-2574-F2D4-6589-7FA03A529E32}"/>
              </a:ext>
            </a:extLst>
          </p:cNvPr>
          <p:cNvCxnSpPr/>
          <p:nvPr/>
        </p:nvCxnSpPr>
        <p:spPr>
          <a:xfrm>
            <a:off x="2510287" y="4271532"/>
            <a:ext cx="955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7" name="Snip and Round Single Corner Rectangle 46">
            <a:extLst>
              <a:ext uri="{FF2B5EF4-FFF2-40B4-BE49-F238E27FC236}">
                <a16:creationId xmlns:a16="http://schemas.microsoft.com/office/drawing/2014/main" id="{C29C4CC7-A902-479D-6040-818753635F39}"/>
              </a:ext>
            </a:extLst>
          </p:cNvPr>
          <p:cNvSpPr/>
          <p:nvPr/>
        </p:nvSpPr>
        <p:spPr>
          <a:xfrm>
            <a:off x="10442142" y="1318055"/>
            <a:ext cx="214686" cy="166978"/>
          </a:xfrm>
          <a:prstGeom prst="snip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83047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9414-A5E1-1614-2C74-C3CA2CFD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SCDs for Projects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DD0A5-3C6A-7994-69DD-C7F15426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20460" cy="404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72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7C75-4729-07E1-6746-489B12CC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Layers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29825-A1D6-A2C4-1942-D58B4CA87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383441"/>
              </p:ext>
            </p:extLst>
          </p:nvPr>
        </p:nvGraphicFramePr>
        <p:xfrm>
          <a:off x="838199" y="1690688"/>
          <a:ext cx="10334896" cy="421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724">
                  <a:extLst>
                    <a:ext uri="{9D8B030D-6E8A-4147-A177-3AD203B41FA5}">
                      <a16:colId xmlns:a16="http://schemas.microsoft.com/office/drawing/2014/main" val="4079771654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3088214061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3461240253"/>
                    </a:ext>
                  </a:extLst>
                </a:gridCol>
                <a:gridCol w="2583724">
                  <a:extLst>
                    <a:ext uri="{9D8B030D-6E8A-4147-A177-3AD203B41FA5}">
                      <a16:colId xmlns:a16="http://schemas.microsoft.com/office/drawing/2014/main" val="70021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Govern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1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Defines why the system exists and what value it delivers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Shapes how the system achieves intent within defined boundaries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Implements and evolves the designed system through living code and context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continuity, integrity, and alignment across all components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3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System Concept &amp; Intent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Purpose, scope, outcomes, and success metrics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Stakeholders, constraints, dependencies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Establish initial context boundaries for AI and humans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Architecture models (System → Assembly → Component)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Data models, interfaces, and contracts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Context structure (definitions, Inputs, outputs, constraints)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Governance hooks for compliance and telemetry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Develop Components within scope of contracts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Maintain synchronized context files with code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Perform continuous testing, validation, and integration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Generate autonomic documentation (self-updating via context)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Manage versioned context and configuration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Monitor compliance, telemetry, and performance metrics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Validate alignment to intent and scope (closed-loop feedback) 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dirty="0"/>
                        <a:t>• Oversee AI behavior, bias, and transparency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457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693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15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8B3C-4131-7B68-5BD9-58B120D5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386A-3FD8-59AB-0275-B25383A9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1B3F5F-76EB-8F83-6B7C-050641D6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74632"/>
              </p:ext>
            </p:extLst>
          </p:nvPr>
        </p:nvGraphicFramePr>
        <p:xfrm>
          <a:off x="719546" y="1577476"/>
          <a:ext cx="10752908" cy="421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8227">
                  <a:extLst>
                    <a:ext uri="{9D8B030D-6E8A-4147-A177-3AD203B41FA5}">
                      <a16:colId xmlns:a16="http://schemas.microsoft.com/office/drawing/2014/main" val="4079771654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3088214061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3461240253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70021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Govern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1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Defines why the system exists and what value it delivers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Shapes how the system achieves intent within defined boundaries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Implements and evolves the designed system through living code and context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Ensures continuity, integrity, and alignment across all components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53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Product Manager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Investment Board / Executive Sponsor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CFO / CSO (strategy, risk, funding)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Clinical / Domain Leads (where applicable)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Vision Assistant (maintains SCID, value tracking)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Enterprise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Solution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Business / Data Analyst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UX / Service Designer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QA / Test Architect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Design Assistant (context modeling, compliance mapping)</a:t>
                      </a:r>
                    </a:p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Developers / Engineers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Agents / Developers (for specialized components)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DevOps / </a:t>
                      </a:r>
                      <a:r>
                        <a:rPr lang="en-US" sz="1200" dirty="0" err="1"/>
                        <a:t>MLOps</a:t>
                      </a:r>
                      <a:r>
                        <a:rPr lang="en-US" sz="1200" dirty="0"/>
                        <a:t> Engineers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 Engineers / Model Trainers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Test Automation /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Build Assistant (code + test generation, validation)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Governance Manager / Compliance Officer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Security &amp; Privacy Lead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Performance / Reliability Engineer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Infrastructure / Platform Engineer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 Governance Assistant (policy checks, bias monitoring, telemetry validation)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457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693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56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14707</TotalTime>
  <Words>488</Words>
  <Application>Microsoft Macintosh PowerPoint</Application>
  <PresentationFormat>Widescreen</PresentationFormat>
  <Paragraphs>135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Office Theme</vt:lpstr>
      <vt:lpstr>PowerPoint Presentation</vt:lpstr>
      <vt:lpstr>SCDs for Projects</vt:lpstr>
      <vt:lpstr>Team Layers</vt:lpstr>
      <vt:lpstr>Team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McCrimmon</dc:creator>
  <cp:lastModifiedBy>Timothy McCrimmon</cp:lastModifiedBy>
  <cp:revision>50</cp:revision>
  <dcterms:created xsi:type="dcterms:W3CDTF">2025-08-14T19:36:48Z</dcterms:created>
  <dcterms:modified xsi:type="dcterms:W3CDTF">2025-11-21T15:39:43Z</dcterms:modified>
</cp:coreProperties>
</file>