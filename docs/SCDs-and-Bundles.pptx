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316" r:id="rId3"/>
    <p:sldId id="335" r:id="rId4"/>
    <p:sldId id="336" r:id="rId5"/>
    <p:sldId id="257" r:id="rId6"/>
    <p:sldId id="326" r:id="rId7"/>
    <p:sldId id="341" r:id="rId8"/>
    <p:sldId id="323" r:id="rId9"/>
    <p:sldId id="340" r:id="rId10"/>
    <p:sldId id="315" r:id="rId11"/>
    <p:sldId id="342" r:id="rId12"/>
    <p:sldId id="343" r:id="rId13"/>
    <p:sldId id="344" r:id="rId14"/>
    <p:sldId id="337" r:id="rId15"/>
    <p:sldId id="338" r:id="rId16"/>
    <p:sldId id="324" r:id="rId17"/>
    <p:sldId id="327" r:id="rId18"/>
    <p:sldId id="328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D4F"/>
    <a:srgbClr val="161E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721"/>
    <p:restoredTop sz="94731"/>
  </p:normalViewPr>
  <p:slideViewPr>
    <p:cSldViewPr snapToGrid="0">
      <p:cViewPr varScale="1">
        <p:scale>
          <a:sx n="138" d="100"/>
          <a:sy n="138" d="100"/>
        </p:scale>
        <p:origin x="216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FD3A3-438C-C936-67D1-67B720F11D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92E464-93A6-25D0-F1C0-716263574C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64610F-0622-FC6A-0DB3-DDC3CAD64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AD35A94-27D5-F943-9E22-FF249660658B}" type="datetimeFigureOut">
              <a:rPr lang="en-US" smtClean="0"/>
              <a:pPr/>
              <a:t>11/20/25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52F94C-9C3C-FE7E-CB6B-494B9BA4209D}"/>
              </a:ext>
            </a:extLst>
          </p:cNvPr>
          <p:cNvSpPr txBox="1"/>
          <p:nvPr userDrawn="1"/>
        </p:nvSpPr>
        <p:spPr>
          <a:xfrm>
            <a:off x="8969036" y="6243698"/>
            <a:ext cx="27695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© 2025 Timothy McCrimmon. Context Engineering Development Model™ (CEDM).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7784224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90121-789C-DFA2-4702-65BC187B1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4870E8-A8B3-9C54-563E-A23683BBD3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1AB04A96-2308-F741-292C-A783E6EA8B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AD35A94-27D5-F943-9E22-FF249660658B}" type="datetimeFigureOut">
              <a:rPr lang="en-US" smtClean="0"/>
              <a:pPr/>
              <a:t>11/20/25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90B9B6-8F56-F42F-F828-BE7E5DE92262}"/>
              </a:ext>
            </a:extLst>
          </p:cNvPr>
          <p:cNvSpPr txBox="1"/>
          <p:nvPr userDrawn="1"/>
        </p:nvSpPr>
        <p:spPr>
          <a:xfrm>
            <a:off x="8969036" y="6243698"/>
            <a:ext cx="27695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© 2025 Timothy McCrimmon. Context Engineering Development Model™ (CEDM).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41552302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44361-5738-457B-1F9F-B9D72A3A1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2C0C6E-8478-B8BC-0D58-D3079E8D31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257664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3DCC79C4-45B2-8FA7-14B0-E6E2C40C65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AD35A94-27D5-F943-9E22-FF249660658B}" type="datetimeFigureOut">
              <a:rPr lang="en-US" smtClean="0"/>
              <a:pPr/>
              <a:t>11/20/25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CB3DE9-B96F-3293-A89F-34C44B7AC9DA}"/>
              </a:ext>
            </a:extLst>
          </p:cNvPr>
          <p:cNvSpPr txBox="1"/>
          <p:nvPr userDrawn="1"/>
        </p:nvSpPr>
        <p:spPr>
          <a:xfrm>
            <a:off x="8969036" y="6243698"/>
            <a:ext cx="27695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© 2025 Timothy McCrimmon. Context Engineering Development Model™ (CEDM).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7209472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D9194-C4AD-2779-EB64-F50DB4A18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F61FA8-24D6-2A18-8F5D-F445A6F84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0718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E68882-01B4-FF9D-C694-2AE3704BA4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0718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30B03D38-17DF-D93D-72D5-92DDC9AEA9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AD35A94-27D5-F943-9E22-FF249660658B}" type="datetimeFigureOut">
              <a:rPr lang="en-US" smtClean="0"/>
              <a:pPr/>
              <a:t>11/20/25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559F96-933A-933B-5962-7BE680CFA5E7}"/>
              </a:ext>
            </a:extLst>
          </p:cNvPr>
          <p:cNvSpPr txBox="1"/>
          <p:nvPr userDrawn="1"/>
        </p:nvSpPr>
        <p:spPr>
          <a:xfrm>
            <a:off x="8969036" y="6243698"/>
            <a:ext cx="27695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© 2025 Timothy McCrimmon. Context Engineering Development Model™ (CEDM).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5947354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FB048-F193-8E85-1D7E-36F47F94C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9D54AB-6B3F-0A4B-C26A-E57ABAC6C0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F8B54-6FBE-936C-8556-C45BB0419C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37560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FEDE43-58E6-C70D-5CA2-19C92F0575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824D93-7559-117E-0C16-216E59A6FD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37560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C8783311-DB0D-9662-13AF-ED55DCE7B2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AD35A94-27D5-F943-9E22-FF249660658B}" type="datetimeFigureOut">
              <a:rPr lang="en-US" smtClean="0"/>
              <a:pPr/>
              <a:t>11/20/25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0CB803-5373-4377-7F96-0AABC3893EB7}"/>
              </a:ext>
            </a:extLst>
          </p:cNvPr>
          <p:cNvSpPr txBox="1"/>
          <p:nvPr userDrawn="1"/>
        </p:nvSpPr>
        <p:spPr>
          <a:xfrm>
            <a:off x="8969036" y="6243698"/>
            <a:ext cx="27695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© 2025 Timothy McCrimmon. Context Engineering Development Model™ (CEDM).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4292816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878E8-7282-983D-D137-03EDE432F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F0137B12-8189-1F54-498D-C19712B76D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AD35A94-27D5-F943-9E22-FF249660658B}" type="datetimeFigureOut">
              <a:rPr lang="en-US" smtClean="0"/>
              <a:pPr/>
              <a:t>11/20/25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2F1B12-02A4-5F5D-8369-7AB9A722B810}"/>
              </a:ext>
            </a:extLst>
          </p:cNvPr>
          <p:cNvSpPr txBox="1"/>
          <p:nvPr userDrawn="1"/>
        </p:nvSpPr>
        <p:spPr>
          <a:xfrm>
            <a:off x="8969036" y="6243698"/>
            <a:ext cx="27695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© 2025 Timothy McCrimmon. Context Engineering Development Model™ (CEDM).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4096820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64FC769A-DAF3-D354-8A6E-34C2E2A2158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AD35A94-27D5-F943-9E22-FF249660658B}" type="datetimeFigureOut">
              <a:rPr lang="en-US" smtClean="0"/>
              <a:pPr/>
              <a:t>11/20/25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F94D9C-2F49-D479-9F75-C52F078B8B7E}"/>
              </a:ext>
            </a:extLst>
          </p:cNvPr>
          <p:cNvSpPr txBox="1"/>
          <p:nvPr userDrawn="1"/>
        </p:nvSpPr>
        <p:spPr>
          <a:xfrm>
            <a:off x="8969036" y="6243698"/>
            <a:ext cx="27695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© 2025 Timothy McCrimmon. Context Engineering Development Model™ (CEDM).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7681299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F201C-51F4-F65C-60DE-0D0E559AD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EF9D6-D7F8-0371-CF28-3EB82775F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263BD5-ED20-C7E3-673C-DEFDCDD3BB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273416"/>
            <a:ext cx="3932237" cy="35955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AB8B0F81-3ADC-2F50-284E-510B498860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AD35A94-27D5-F943-9E22-FF249660658B}" type="datetimeFigureOut">
              <a:rPr lang="en-US" smtClean="0"/>
              <a:pPr/>
              <a:t>11/20/25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91B5BD-11FF-CA36-EB57-DC39DCDC9E8D}"/>
              </a:ext>
            </a:extLst>
          </p:cNvPr>
          <p:cNvSpPr txBox="1"/>
          <p:nvPr userDrawn="1"/>
        </p:nvSpPr>
        <p:spPr>
          <a:xfrm>
            <a:off x="8969036" y="6243698"/>
            <a:ext cx="27695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© 2025 Timothy McCrimmon. Context Engineering Development Model™ (CEDM).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983885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43346-2C94-02D9-0004-30C8D4271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F60F88B-3EAD-342C-BC68-906A705829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F60BC4-B92B-4891-2088-5C313807A6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231472"/>
            <a:ext cx="3932237" cy="363751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37182F7B-0B19-7B81-8838-785B2ED219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AD35A94-27D5-F943-9E22-FF249660658B}" type="datetimeFigureOut">
              <a:rPr lang="en-US" smtClean="0"/>
              <a:pPr/>
              <a:t>11/20/25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5F69B1-FF5E-6F5A-355D-91DAC94242D5}"/>
              </a:ext>
            </a:extLst>
          </p:cNvPr>
          <p:cNvSpPr txBox="1"/>
          <p:nvPr userDrawn="1"/>
        </p:nvSpPr>
        <p:spPr>
          <a:xfrm>
            <a:off x="8969036" y="6243698"/>
            <a:ext cx="27695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© 2025 Timothy McCrimmon. Context Engineering Development Model™ (CEDM).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42145739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CC078-E438-4BFA-4C48-1EEC084C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EDEF05-4131-D39F-21C4-FE609F70EA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ABCAAAD-08D3-CCF0-758A-4D5E545E23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AD35A94-27D5-F943-9E22-FF249660658B}" type="datetimeFigureOut">
              <a:rPr lang="en-US" smtClean="0"/>
              <a:pPr/>
              <a:t>11/20/25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10E6FF-D6A3-AE47-22AA-A8C0D428FEE8}"/>
              </a:ext>
            </a:extLst>
          </p:cNvPr>
          <p:cNvSpPr txBox="1"/>
          <p:nvPr userDrawn="1"/>
        </p:nvSpPr>
        <p:spPr>
          <a:xfrm>
            <a:off x="8969036" y="6243698"/>
            <a:ext cx="27695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© 2025 Timothy McCrimmon. Context Engineering Development Model™ (CEDM).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332597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5B0819-B110-F0BF-7EF0-E3E54EEDAF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54911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D8735A-E9B1-7FC9-237B-20BC7EFC1D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549114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918541BA-289F-D42A-F5F0-EA97661A9A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AD35A94-27D5-F943-9E22-FF249660658B}" type="datetimeFigureOut">
              <a:rPr lang="en-US" smtClean="0"/>
              <a:pPr/>
              <a:t>11/20/25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4396F1-DEFF-ECF0-E013-EF948793B8C1}"/>
              </a:ext>
            </a:extLst>
          </p:cNvPr>
          <p:cNvSpPr txBox="1"/>
          <p:nvPr userDrawn="1"/>
        </p:nvSpPr>
        <p:spPr>
          <a:xfrm>
            <a:off x="8969036" y="6243698"/>
            <a:ext cx="27695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© 2025 Timothy McCrimmon. Context Engineering Development Model™ (CEDM).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9199940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DA58F0-9BC3-AA6D-C0A9-566341D61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648E01-589E-E1AE-A303-B6E9AD9AAC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082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D1C095-DDF6-9109-0938-BE3A25B1F0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D35A94-27D5-F943-9E22-FF249660658B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629051-563A-F4A9-32D1-A6F20D07ED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8BD30F-380F-C749-FE13-3E189E82CF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696C6A-1D41-0F4A-A30D-D15EB165DB0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343ED2A-83C2-5676-1A85-8F4B5D0EA109}"/>
              </a:ext>
            </a:extLst>
          </p:cNvPr>
          <p:cNvSpPr/>
          <p:nvPr userDrawn="1"/>
        </p:nvSpPr>
        <p:spPr>
          <a:xfrm>
            <a:off x="0" y="6044825"/>
            <a:ext cx="12192000" cy="813175"/>
          </a:xfrm>
          <a:prstGeom prst="rect">
            <a:avLst/>
          </a:prstGeom>
          <a:solidFill>
            <a:srgbClr val="002D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blue background with white text&#10;&#10;AI-generated content may be incorrect.">
            <a:extLst>
              <a:ext uri="{FF2B5EF4-FFF2-40B4-BE49-F238E27FC236}">
                <a16:creationId xmlns:a16="http://schemas.microsoft.com/office/drawing/2014/main" id="{F13346F5-600E-F855-62E6-88E278E56527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rcRect t="36550" b="32722"/>
          <a:stretch>
            <a:fillRect/>
          </a:stretch>
        </p:blipFill>
        <p:spPr>
          <a:xfrm>
            <a:off x="4772790" y="6044824"/>
            <a:ext cx="2646420" cy="813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256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C3C24-732C-EC73-63D0-A30BD15BC8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Context Engineering Development Model</a:t>
            </a:r>
            <a:br>
              <a:rPr lang="en-US" dirty="0"/>
            </a:br>
            <a:r>
              <a:rPr lang="en-US" dirty="0"/>
              <a:t>(CEDM)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FE8105-F2C4-4458-BB3F-C72D18273F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56891" y="3790882"/>
            <a:ext cx="6278217" cy="1655762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A Pragmatic, Risk-Aware Approach to using AI in Software Development</a:t>
            </a:r>
          </a:p>
        </p:txBody>
      </p:sp>
    </p:spTree>
    <p:extLst>
      <p:ext uri="{BB962C8B-B14F-4D97-AF65-F5344CB8AC3E}">
        <p14:creationId xmlns:p14="http://schemas.microsoft.com/office/powerpoint/2010/main" val="40741202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FF59F8B-8604-7403-E7BC-D9749EBB094B}"/>
              </a:ext>
            </a:extLst>
          </p:cNvPr>
          <p:cNvSpPr/>
          <p:nvPr/>
        </p:nvSpPr>
        <p:spPr>
          <a:xfrm>
            <a:off x="828333" y="3429000"/>
            <a:ext cx="10407316" cy="21294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B2DA6E-3988-7811-F681-1344AFF594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406400"/>
            <a:ext cx="9144000" cy="2089912"/>
          </a:xfrm>
        </p:spPr>
        <p:txBody>
          <a:bodyPr/>
          <a:lstStyle/>
          <a:p>
            <a:r>
              <a:rPr lang="en-US" dirty="0"/>
              <a:t>Context Engineering Development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3C4B9D-9732-430F-899C-A9E8CD6DC0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59991" y="2549517"/>
            <a:ext cx="9144000" cy="488963"/>
          </a:xfrm>
        </p:spPr>
        <p:txBody>
          <a:bodyPr/>
          <a:lstStyle/>
          <a:p>
            <a:r>
              <a:rPr lang="en-US" dirty="0"/>
              <a:t>Timothy McCrimmon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835C92-43BD-B418-86A6-C734F2F64B1C}"/>
              </a:ext>
            </a:extLst>
          </p:cNvPr>
          <p:cNvSpPr txBox="1"/>
          <p:nvPr/>
        </p:nvSpPr>
        <p:spPr>
          <a:xfrm>
            <a:off x="1185269" y="3563458"/>
            <a:ext cx="9697453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# Intellectual Property Notice</a:t>
            </a:r>
          </a:p>
          <a:p>
            <a:r>
              <a:rPr lang="en-US" sz="1100" dirty="0"/>
              <a:t>© 2025 Timothy McCrimmon. All rights reserved. </a:t>
            </a:r>
          </a:p>
          <a:p>
            <a:endParaRPr lang="en-US" sz="1100" dirty="0"/>
          </a:p>
          <a:p>
            <a:r>
              <a:rPr lang="en-US" sz="1100" b="1" dirty="0"/>
              <a:t>Context Engineering Development Model™</a:t>
            </a:r>
            <a:r>
              <a:rPr lang="en-US" sz="1100" dirty="0"/>
              <a:t> (CEDM) is an original methodology developed by Timothy McCrimmon. </a:t>
            </a:r>
          </a:p>
          <a:p>
            <a:endParaRPr lang="en-US" sz="1100" dirty="0"/>
          </a:p>
          <a:p>
            <a:r>
              <a:rPr lang="en-US" sz="1100" dirty="0"/>
              <a:t>This work, including all written materials, diagrams, and related documentation, is protected under copyright law. </a:t>
            </a:r>
          </a:p>
          <a:p>
            <a:r>
              <a:rPr lang="en-US" sz="1100" dirty="0"/>
              <a:t>Permission is granted to reference or quote small portions of this work for educational or research purposes, provided that proper attribution is given. </a:t>
            </a:r>
          </a:p>
          <a:p>
            <a:endParaRPr lang="en-US" sz="1100" dirty="0"/>
          </a:p>
          <a:p>
            <a:r>
              <a:rPr lang="en-US" sz="1100" dirty="0"/>
              <a:t>No part of this work may be reproduced, distributed, or used commercially without prior written consent of the author. </a:t>
            </a:r>
          </a:p>
          <a:p>
            <a:endParaRPr lang="en-US" sz="500" dirty="0"/>
          </a:p>
        </p:txBody>
      </p:sp>
    </p:spTree>
    <p:extLst>
      <p:ext uri="{BB962C8B-B14F-4D97-AF65-F5344CB8AC3E}">
        <p14:creationId xmlns:p14="http://schemas.microsoft.com/office/powerpoint/2010/main" val="20378565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B6103-3B35-54B2-CC22-E762CA20A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Book Outline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B550E74-C3CE-C06F-7A5C-DEC8CA9F0C4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14702948"/>
              </p:ext>
            </p:extLst>
          </p:nvPr>
        </p:nvGraphicFramePr>
        <p:xfrm>
          <a:off x="838200" y="1825625"/>
          <a:ext cx="10515600" cy="3594577"/>
        </p:xfrm>
        <a:graphic>
          <a:graphicData uri="http://schemas.openxmlformats.org/drawingml/2006/table">
            <a:tbl>
              <a:tblPr firstRow="1" bandRow="1">
                <a:tableStyleId>{17292A2E-F333-43FB-9621-5CBBE7FDCDCB}</a:tableStyleId>
              </a:tblPr>
              <a:tblGrid>
                <a:gridCol w="3584171">
                  <a:extLst>
                    <a:ext uri="{9D8B030D-6E8A-4147-A177-3AD203B41FA5}">
                      <a16:colId xmlns:a16="http://schemas.microsoft.com/office/drawing/2014/main" val="4278496903"/>
                    </a:ext>
                  </a:extLst>
                </a:gridCol>
                <a:gridCol w="6931429">
                  <a:extLst>
                    <a:ext uri="{9D8B030D-6E8A-4147-A177-3AD203B41FA5}">
                      <a16:colId xmlns:a16="http://schemas.microsoft.com/office/drawing/2014/main" val="2483449786"/>
                    </a:ext>
                  </a:extLst>
                </a:gridCol>
              </a:tblGrid>
              <a:tr h="501939">
                <a:tc>
                  <a:txBody>
                    <a:bodyPr/>
                    <a:lstStyle/>
                    <a:p>
                      <a:r>
                        <a:rPr lang="en-US" dirty="0"/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1542863"/>
                  </a:ext>
                </a:extLst>
              </a:tr>
              <a:tr h="1061359">
                <a:tc>
                  <a:txBody>
                    <a:bodyPr/>
                    <a:lstStyle/>
                    <a:p>
                      <a:r>
                        <a:rPr lang="en-US" sz="1400" dirty="0"/>
                        <a:t>Introduction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Using AI in the software development process carries risks and requires changes in the development model. </a:t>
                      </a:r>
                    </a:p>
                    <a:p>
                      <a:endParaRPr lang="en-US" sz="1400" dirty="0"/>
                    </a:p>
                    <a:p>
                      <a:r>
                        <a:rPr lang="en-US" sz="1400" dirty="0"/>
                        <a:t>Introducing CEDM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173179"/>
                  </a:ext>
                </a:extLst>
              </a:tr>
              <a:tr h="1130632">
                <a:tc>
                  <a:txBody>
                    <a:bodyPr/>
                    <a:lstStyle/>
                    <a:p>
                      <a:r>
                        <a:rPr lang="en-US" sz="1400" dirty="0"/>
                        <a:t>Concept Deep Dives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Structured Context</a:t>
                      </a:r>
                      <a:r>
                        <a:rPr lang="en-US" sz="1400" baseline="30000" dirty="0"/>
                        <a:t>©️</a:t>
                      </a:r>
                      <a:endParaRPr lang="en-US" sz="1400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Teams (XP.AI)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Contracts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AI Driven Governance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3750545"/>
                  </a:ext>
                </a:extLst>
              </a:tr>
              <a:tr h="900647">
                <a:tc>
                  <a:txBody>
                    <a:bodyPr/>
                    <a:lstStyle/>
                    <a:p>
                      <a:r>
                        <a:rPr lang="en-US" sz="1400" dirty="0"/>
                        <a:t>Case Study (reference 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Example of the process, deliverables, context management, teams, governance and reporting.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40429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8598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4BAC7-3735-86D2-2C82-D831365A5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57A3A1-8B3D-4E9B-06A0-5A20DB8DD4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Attractiveness and issues associated with using AI in your SDLC</a:t>
            </a:r>
          </a:p>
        </p:txBody>
      </p:sp>
    </p:spTree>
    <p:extLst>
      <p:ext uri="{BB962C8B-B14F-4D97-AF65-F5344CB8AC3E}">
        <p14:creationId xmlns:p14="http://schemas.microsoft.com/office/powerpoint/2010/main" val="376919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DCB3601-0A12-A174-E9E2-A8944E0582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12065" y="1786398"/>
            <a:ext cx="3932237" cy="3595571"/>
          </a:xfrm>
        </p:spPr>
        <p:txBody>
          <a:bodyPr/>
          <a:lstStyle/>
          <a:p>
            <a:r>
              <a:rPr lang="en-US" dirty="0"/>
              <a:t>Anyone can build applications</a:t>
            </a:r>
          </a:p>
          <a:p>
            <a:r>
              <a:rPr lang="en-US" dirty="0"/>
              <a:t>All software will be written by AI</a:t>
            </a:r>
          </a:p>
          <a:p>
            <a:r>
              <a:rPr lang="en-US" dirty="0"/>
              <a:t>We don’t need expensive developers</a:t>
            </a:r>
          </a:p>
          <a:p>
            <a:r>
              <a:rPr lang="en-US" dirty="0"/>
              <a:t>Gen-AI writes perfect code</a:t>
            </a:r>
          </a:p>
          <a:p>
            <a:r>
              <a:rPr lang="en-US" dirty="0"/>
              <a:t>Vibe Coding is the future!!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C0EA219-A183-7278-454A-6623F2B2A277}"/>
              </a:ext>
            </a:extLst>
          </p:cNvPr>
          <p:cNvSpPr txBox="1">
            <a:spLocks/>
          </p:cNvSpPr>
          <p:nvPr/>
        </p:nvSpPr>
        <p:spPr>
          <a:xfrm>
            <a:off x="1012066" y="522861"/>
            <a:ext cx="3932237" cy="89783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Mythology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8D2421D-FDC0-475A-A534-FFD8B91EC2A3}"/>
              </a:ext>
            </a:extLst>
          </p:cNvPr>
          <p:cNvSpPr txBox="1">
            <a:spLocks/>
          </p:cNvSpPr>
          <p:nvPr/>
        </p:nvSpPr>
        <p:spPr>
          <a:xfrm>
            <a:off x="6266551" y="1786397"/>
            <a:ext cx="5153510" cy="35955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AI is here to stay</a:t>
            </a:r>
          </a:p>
          <a:p>
            <a:r>
              <a:rPr lang="en-US" dirty="0"/>
              <a:t>“Wait and see” will hurt you</a:t>
            </a:r>
          </a:p>
          <a:p>
            <a:r>
              <a:rPr lang="en-US" dirty="0"/>
              <a:t>AI tech (good and bad) moving VERY fast</a:t>
            </a:r>
          </a:p>
          <a:p>
            <a:r>
              <a:rPr lang="en-US" dirty="0"/>
              <a:t>Scenarios:</a:t>
            </a:r>
          </a:p>
          <a:p>
            <a:pPr marL="285750" indent="-285750">
              <a:buFontTx/>
              <a:buChar char="-"/>
            </a:pPr>
            <a:r>
              <a:rPr lang="en-US" dirty="0"/>
              <a:t>Build software using AI</a:t>
            </a:r>
          </a:p>
          <a:p>
            <a:pPr marL="285750" indent="-285750">
              <a:buFontTx/>
              <a:buChar char="-"/>
            </a:pPr>
            <a:r>
              <a:rPr lang="en-US" dirty="0"/>
              <a:t>Build applications that leverage AI</a:t>
            </a:r>
          </a:p>
          <a:p>
            <a:pPr marL="285750" indent="-285750">
              <a:buFontTx/>
              <a:buChar char="-"/>
            </a:pPr>
            <a:r>
              <a:rPr lang="en-US" dirty="0"/>
              <a:t>Both are RISKY</a:t>
            </a:r>
          </a:p>
          <a:p>
            <a:pPr marL="285750" indent="-285750">
              <a:buFontTx/>
              <a:buChar char="-"/>
            </a:pPr>
            <a:r>
              <a:rPr lang="en-US" dirty="0"/>
              <a:t>Both require SKILL</a:t>
            </a:r>
          </a:p>
          <a:p>
            <a:pPr marL="285750" indent="-285750">
              <a:buFontTx/>
              <a:buChar char="-"/>
            </a:pPr>
            <a:r>
              <a:rPr lang="en-US" dirty="0"/>
              <a:t>Both require a PLAN</a:t>
            </a:r>
          </a:p>
          <a:p>
            <a:pPr marL="285750" indent="-285750">
              <a:buFontTx/>
              <a:buChar char="-"/>
            </a:pPr>
            <a:r>
              <a:rPr lang="en-US" dirty="0"/>
              <a:t>Getting it wrong could prove fatal to your biz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C6E411CF-9834-695A-47B1-B1371650BA06}"/>
              </a:ext>
            </a:extLst>
          </p:cNvPr>
          <p:cNvSpPr txBox="1">
            <a:spLocks/>
          </p:cNvSpPr>
          <p:nvPr/>
        </p:nvSpPr>
        <p:spPr>
          <a:xfrm>
            <a:off x="6266552" y="522862"/>
            <a:ext cx="3932237" cy="89783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Reality</a:t>
            </a:r>
          </a:p>
        </p:txBody>
      </p:sp>
    </p:spTree>
    <p:extLst>
      <p:ext uri="{BB962C8B-B14F-4D97-AF65-F5344CB8AC3E}">
        <p14:creationId xmlns:p14="http://schemas.microsoft.com/office/powerpoint/2010/main" val="986147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lock Arc 16">
            <a:extLst>
              <a:ext uri="{FF2B5EF4-FFF2-40B4-BE49-F238E27FC236}">
                <a16:creationId xmlns:a16="http://schemas.microsoft.com/office/drawing/2014/main" id="{7BDF864F-0571-0567-6ADC-631D9661BDBD}"/>
              </a:ext>
            </a:extLst>
          </p:cNvPr>
          <p:cNvSpPr/>
          <p:nvPr/>
        </p:nvSpPr>
        <p:spPr>
          <a:xfrm>
            <a:off x="9369415" y="2273416"/>
            <a:ext cx="2046266" cy="2104134"/>
          </a:xfrm>
          <a:prstGeom prst="blockArc">
            <a:avLst>
              <a:gd name="adj1" fmla="val 16200000"/>
              <a:gd name="adj2" fmla="val 1800000"/>
              <a:gd name="adj3" fmla="val 463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1BA239-15AA-AEB7-E350-B4A11CFEF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Development Teams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46C12A-E6D9-B04D-A321-E827B466919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Types:</a:t>
            </a:r>
          </a:p>
          <a:p>
            <a:endParaRPr lang="en-US" dirty="0"/>
          </a:p>
          <a:p>
            <a:r>
              <a:rPr lang="en-US" dirty="0"/>
              <a:t>Product: </a:t>
            </a:r>
          </a:p>
          <a:p>
            <a:pPr marL="285750" indent="-285750">
              <a:buFontTx/>
              <a:buChar char="-"/>
            </a:pPr>
            <a:r>
              <a:rPr lang="en-US" dirty="0"/>
              <a:t>Offering for Sale to a market</a:t>
            </a:r>
          </a:p>
          <a:p>
            <a:pPr marL="285750" indent="-285750">
              <a:buFontTx/>
              <a:buChar char="-"/>
            </a:pPr>
            <a:r>
              <a:rPr lang="en-US" dirty="0"/>
              <a:t>Build what customers NEED</a:t>
            </a:r>
          </a:p>
          <a:p>
            <a:endParaRPr lang="en-US" dirty="0"/>
          </a:p>
          <a:p>
            <a:r>
              <a:rPr lang="en-US" dirty="0"/>
              <a:t>Services:</a:t>
            </a:r>
          </a:p>
          <a:p>
            <a:pPr marL="285750" indent="-285750">
              <a:buFontTx/>
              <a:buChar char="-"/>
            </a:pPr>
            <a:r>
              <a:rPr lang="en-US" dirty="0"/>
              <a:t>Software built as specified by a contract</a:t>
            </a:r>
          </a:p>
          <a:p>
            <a:pPr marL="285750" indent="-285750">
              <a:buFontTx/>
              <a:buChar char="-"/>
            </a:pPr>
            <a:r>
              <a:rPr lang="en-US" dirty="0"/>
              <a:t>Build what customers WANT</a:t>
            </a:r>
          </a:p>
          <a:p>
            <a:endParaRPr lang="en-US" dirty="0"/>
          </a:p>
          <a:p>
            <a:r>
              <a:rPr lang="en-US" dirty="0"/>
              <a:t>Maintenance:</a:t>
            </a:r>
          </a:p>
          <a:p>
            <a:pPr marL="285750" indent="-285750">
              <a:buFontTx/>
              <a:buChar char="-"/>
            </a:pPr>
            <a:r>
              <a:rPr lang="en-US" dirty="0"/>
              <a:t>Maintain existing systems and solutions</a:t>
            </a:r>
          </a:p>
          <a:p>
            <a:pPr marL="285750" indent="-285750">
              <a:buFontTx/>
              <a:buChar char="-"/>
            </a:pPr>
            <a:r>
              <a:rPr lang="en-US" dirty="0"/>
              <a:t>Enhance/Maintain what customers HAVE</a:t>
            </a:r>
          </a:p>
          <a:p>
            <a:endParaRPr lang="en-US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C0D3356E-6CF3-AA18-505E-9FCCE1A1A60B}"/>
              </a:ext>
            </a:extLst>
          </p:cNvPr>
          <p:cNvSpPr/>
          <p:nvPr/>
        </p:nvSpPr>
        <p:spPr>
          <a:xfrm>
            <a:off x="5395825" y="1738103"/>
            <a:ext cx="2740590" cy="575190"/>
          </a:xfrm>
          <a:custGeom>
            <a:avLst/>
            <a:gdLst>
              <a:gd name="connsiteX0" fmla="*/ 0 w 2863532"/>
              <a:gd name="connsiteY0" fmla="*/ 575188 h 575188"/>
              <a:gd name="connsiteX1" fmla="*/ 477256 w 2863532"/>
              <a:gd name="connsiteY1" fmla="*/ 0 h 575188"/>
              <a:gd name="connsiteX2" fmla="*/ 2386276 w 2863532"/>
              <a:gd name="connsiteY2" fmla="*/ 0 h 575188"/>
              <a:gd name="connsiteX3" fmla="*/ 2863532 w 2863532"/>
              <a:gd name="connsiteY3" fmla="*/ 575188 h 575188"/>
              <a:gd name="connsiteX4" fmla="*/ 0 w 2863532"/>
              <a:gd name="connsiteY4" fmla="*/ 575188 h 575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63532" h="575188">
                <a:moveTo>
                  <a:pt x="2863532" y="1"/>
                </a:moveTo>
                <a:lnTo>
                  <a:pt x="2386276" y="575187"/>
                </a:lnTo>
                <a:lnTo>
                  <a:pt x="477256" y="575187"/>
                </a:lnTo>
                <a:lnTo>
                  <a:pt x="0" y="1"/>
                </a:lnTo>
                <a:lnTo>
                  <a:pt x="2863532" y="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515088" tIns="13971" rIns="515089" bIns="13971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1100" kern="1200" dirty="0">
                <a:solidFill>
                  <a:schemeClr val="bg1"/>
                </a:solidFill>
              </a:rPr>
              <a:t>Stakeholders</a:t>
            </a:r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BE23FCEC-42D3-F541-A040-B7F8B3F4B984}"/>
              </a:ext>
            </a:extLst>
          </p:cNvPr>
          <p:cNvSpPr/>
          <p:nvPr/>
        </p:nvSpPr>
        <p:spPr>
          <a:xfrm>
            <a:off x="5832100" y="2313291"/>
            <a:ext cx="1827060" cy="575189"/>
          </a:xfrm>
          <a:custGeom>
            <a:avLst/>
            <a:gdLst>
              <a:gd name="connsiteX0" fmla="*/ 0 w 1909021"/>
              <a:gd name="connsiteY0" fmla="*/ 575188 h 575188"/>
              <a:gd name="connsiteX1" fmla="*/ 477256 w 1909021"/>
              <a:gd name="connsiteY1" fmla="*/ 0 h 575188"/>
              <a:gd name="connsiteX2" fmla="*/ 1431765 w 1909021"/>
              <a:gd name="connsiteY2" fmla="*/ 0 h 575188"/>
              <a:gd name="connsiteX3" fmla="*/ 1909021 w 1909021"/>
              <a:gd name="connsiteY3" fmla="*/ 575188 h 575188"/>
              <a:gd name="connsiteX4" fmla="*/ 0 w 1909021"/>
              <a:gd name="connsiteY4" fmla="*/ 575188 h 575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9021" h="575188">
                <a:moveTo>
                  <a:pt x="1909021" y="1"/>
                </a:moveTo>
                <a:lnTo>
                  <a:pt x="1431765" y="575187"/>
                </a:lnTo>
                <a:lnTo>
                  <a:pt x="477256" y="575187"/>
                </a:lnTo>
                <a:lnTo>
                  <a:pt x="0" y="1"/>
                </a:lnTo>
                <a:lnTo>
                  <a:pt x="1909021" y="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48049" tIns="13971" rIns="348049" bIns="13970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1100" kern="1200" dirty="0">
                <a:solidFill>
                  <a:schemeClr val="bg1"/>
                </a:solidFill>
              </a:rPr>
              <a:t>Managers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F0BE60D-AAED-F9E5-DAD5-38630CD2C876}"/>
              </a:ext>
            </a:extLst>
          </p:cNvPr>
          <p:cNvSpPr/>
          <p:nvPr/>
        </p:nvSpPr>
        <p:spPr>
          <a:xfrm>
            <a:off x="6321888" y="3811589"/>
            <a:ext cx="906449" cy="54082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Developers</a:t>
            </a:r>
          </a:p>
        </p:txBody>
      </p:sp>
      <p:sp>
        <p:nvSpPr>
          <p:cNvPr id="15" name="Block Arc 14">
            <a:extLst>
              <a:ext uri="{FF2B5EF4-FFF2-40B4-BE49-F238E27FC236}">
                <a16:creationId xmlns:a16="http://schemas.microsoft.com/office/drawing/2014/main" id="{8CB303A5-0F57-9D2A-6C18-17494C777137}"/>
              </a:ext>
            </a:extLst>
          </p:cNvPr>
          <p:cNvSpPr/>
          <p:nvPr/>
        </p:nvSpPr>
        <p:spPr>
          <a:xfrm>
            <a:off x="9369415" y="2273416"/>
            <a:ext cx="2046266" cy="2104134"/>
          </a:xfrm>
          <a:prstGeom prst="blockArc">
            <a:avLst>
              <a:gd name="adj1" fmla="val 9000000"/>
              <a:gd name="adj2" fmla="val 16200000"/>
              <a:gd name="adj3" fmla="val 463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4">
              <a:hueOff val="0"/>
              <a:satOff val="0"/>
              <a:lumOff val="0"/>
              <a:alphaOff val="0"/>
            </a:schemeClr>
          </a:fillRef>
          <a:effectRef idx="0">
            <a:schemeClr val="accent4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Block Arc 15">
            <a:extLst>
              <a:ext uri="{FF2B5EF4-FFF2-40B4-BE49-F238E27FC236}">
                <a16:creationId xmlns:a16="http://schemas.microsoft.com/office/drawing/2014/main" id="{4DFBE84A-E2ED-2D7A-4FD7-ECE827409250}"/>
              </a:ext>
            </a:extLst>
          </p:cNvPr>
          <p:cNvSpPr/>
          <p:nvPr/>
        </p:nvSpPr>
        <p:spPr>
          <a:xfrm>
            <a:off x="9369415" y="2273416"/>
            <a:ext cx="2046266" cy="2104134"/>
          </a:xfrm>
          <a:prstGeom prst="blockArc">
            <a:avLst>
              <a:gd name="adj1" fmla="val 636950"/>
              <a:gd name="adj2" fmla="val 9000000"/>
              <a:gd name="adj3" fmla="val 463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75121D71-62A4-9529-3492-1D4DD9E8AE8E}"/>
              </a:ext>
            </a:extLst>
          </p:cNvPr>
          <p:cNvSpPr/>
          <p:nvPr/>
        </p:nvSpPr>
        <p:spPr>
          <a:xfrm>
            <a:off x="9369415" y="2205285"/>
            <a:ext cx="1305192" cy="470314"/>
          </a:xfrm>
          <a:custGeom>
            <a:avLst/>
            <a:gdLst>
              <a:gd name="connsiteX0" fmla="*/ 0 w 1176793"/>
              <a:gd name="connsiteY0" fmla="*/ 255929 h 511858"/>
              <a:gd name="connsiteX1" fmla="*/ 588397 w 1176793"/>
              <a:gd name="connsiteY1" fmla="*/ 0 h 511858"/>
              <a:gd name="connsiteX2" fmla="*/ 1176794 w 1176793"/>
              <a:gd name="connsiteY2" fmla="*/ 255929 h 511858"/>
              <a:gd name="connsiteX3" fmla="*/ 588397 w 1176793"/>
              <a:gd name="connsiteY3" fmla="*/ 511858 h 511858"/>
              <a:gd name="connsiteX4" fmla="*/ 0 w 1176793"/>
              <a:gd name="connsiteY4" fmla="*/ 255929 h 5118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6793" h="511858">
                <a:moveTo>
                  <a:pt x="0" y="255929"/>
                </a:moveTo>
                <a:cubicBezTo>
                  <a:pt x="0" y="114583"/>
                  <a:pt x="263434" y="0"/>
                  <a:pt x="588397" y="0"/>
                </a:cubicBezTo>
                <a:cubicBezTo>
                  <a:pt x="913360" y="0"/>
                  <a:pt x="1176794" y="114583"/>
                  <a:pt x="1176794" y="255929"/>
                </a:cubicBezTo>
                <a:cubicBezTo>
                  <a:pt x="1176794" y="397275"/>
                  <a:pt x="913360" y="511858"/>
                  <a:pt x="588397" y="511858"/>
                </a:cubicBezTo>
                <a:cubicBezTo>
                  <a:pt x="263434" y="511858"/>
                  <a:pt x="0" y="397275"/>
                  <a:pt x="0" y="255929"/>
                </a:cubicBez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2497" tIns="85120" rIns="182497" bIns="85120" numCol="1" spcCol="1270" anchor="ctr" anchorCtr="0">
            <a:noAutofit/>
          </a:bodyPr>
          <a:lstStyle/>
          <a:p>
            <a:pPr marL="0" lvl="0" indent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900" b="1" kern="1200" dirty="0"/>
              <a:t>Stakeholders</a:t>
            </a:r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B8D9F41E-2F0E-AE84-888A-A221F868556F}"/>
              </a:ext>
            </a:extLst>
          </p:cNvPr>
          <p:cNvSpPr/>
          <p:nvPr/>
        </p:nvSpPr>
        <p:spPr>
          <a:xfrm>
            <a:off x="10522412" y="3073437"/>
            <a:ext cx="1305192" cy="470314"/>
          </a:xfrm>
          <a:custGeom>
            <a:avLst/>
            <a:gdLst>
              <a:gd name="connsiteX0" fmla="*/ 0 w 1176793"/>
              <a:gd name="connsiteY0" fmla="*/ 255929 h 511858"/>
              <a:gd name="connsiteX1" fmla="*/ 588397 w 1176793"/>
              <a:gd name="connsiteY1" fmla="*/ 0 h 511858"/>
              <a:gd name="connsiteX2" fmla="*/ 1176794 w 1176793"/>
              <a:gd name="connsiteY2" fmla="*/ 255929 h 511858"/>
              <a:gd name="connsiteX3" fmla="*/ 588397 w 1176793"/>
              <a:gd name="connsiteY3" fmla="*/ 511858 h 511858"/>
              <a:gd name="connsiteX4" fmla="*/ 0 w 1176793"/>
              <a:gd name="connsiteY4" fmla="*/ 255929 h 5118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6793" h="511858">
                <a:moveTo>
                  <a:pt x="0" y="255929"/>
                </a:moveTo>
                <a:cubicBezTo>
                  <a:pt x="0" y="114583"/>
                  <a:pt x="263434" y="0"/>
                  <a:pt x="588397" y="0"/>
                </a:cubicBezTo>
                <a:cubicBezTo>
                  <a:pt x="913360" y="0"/>
                  <a:pt x="1176794" y="114583"/>
                  <a:pt x="1176794" y="255929"/>
                </a:cubicBezTo>
                <a:cubicBezTo>
                  <a:pt x="1176794" y="397275"/>
                  <a:pt x="913360" y="511858"/>
                  <a:pt x="588397" y="511858"/>
                </a:cubicBezTo>
                <a:cubicBezTo>
                  <a:pt x="263434" y="511858"/>
                  <a:pt x="0" y="397275"/>
                  <a:pt x="0" y="255929"/>
                </a:cubicBez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2497" tIns="85120" rIns="182497" bIns="85120" numCol="1" spcCol="1270" anchor="ctr" anchorCtr="0">
            <a:noAutofit/>
          </a:bodyPr>
          <a:lstStyle/>
          <a:p>
            <a:pPr marL="0" lvl="0" indent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900" b="1" kern="1200" dirty="0"/>
              <a:t>AI Assistants</a:t>
            </a: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BCC61222-5685-416D-6951-4FE7D8446BC2}"/>
              </a:ext>
            </a:extLst>
          </p:cNvPr>
          <p:cNvSpPr/>
          <p:nvPr/>
        </p:nvSpPr>
        <p:spPr>
          <a:xfrm>
            <a:off x="8983619" y="3564796"/>
            <a:ext cx="1305192" cy="470314"/>
          </a:xfrm>
          <a:custGeom>
            <a:avLst/>
            <a:gdLst>
              <a:gd name="connsiteX0" fmla="*/ 0 w 1176793"/>
              <a:gd name="connsiteY0" fmla="*/ 255929 h 511858"/>
              <a:gd name="connsiteX1" fmla="*/ 588397 w 1176793"/>
              <a:gd name="connsiteY1" fmla="*/ 0 h 511858"/>
              <a:gd name="connsiteX2" fmla="*/ 1176794 w 1176793"/>
              <a:gd name="connsiteY2" fmla="*/ 255929 h 511858"/>
              <a:gd name="connsiteX3" fmla="*/ 588397 w 1176793"/>
              <a:gd name="connsiteY3" fmla="*/ 511858 h 511858"/>
              <a:gd name="connsiteX4" fmla="*/ 0 w 1176793"/>
              <a:gd name="connsiteY4" fmla="*/ 255929 h 5118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6793" h="511858">
                <a:moveTo>
                  <a:pt x="0" y="255929"/>
                </a:moveTo>
                <a:cubicBezTo>
                  <a:pt x="0" y="114583"/>
                  <a:pt x="263434" y="0"/>
                  <a:pt x="588397" y="0"/>
                </a:cubicBezTo>
                <a:cubicBezTo>
                  <a:pt x="913360" y="0"/>
                  <a:pt x="1176794" y="114583"/>
                  <a:pt x="1176794" y="255929"/>
                </a:cubicBezTo>
                <a:cubicBezTo>
                  <a:pt x="1176794" y="397275"/>
                  <a:pt x="913360" y="511858"/>
                  <a:pt x="588397" y="511858"/>
                </a:cubicBezTo>
                <a:cubicBezTo>
                  <a:pt x="263434" y="511858"/>
                  <a:pt x="0" y="397275"/>
                  <a:pt x="0" y="255929"/>
                </a:cubicBez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4">
              <a:hueOff val="0"/>
              <a:satOff val="0"/>
              <a:lumOff val="0"/>
              <a:alphaOff val="0"/>
            </a:schemeClr>
          </a:fillRef>
          <a:effectRef idx="0">
            <a:schemeClr val="accent4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2497" tIns="85120" rIns="182497" bIns="85120" numCol="1" spcCol="1270" anchor="ctr" anchorCtr="0">
            <a:noAutofit/>
          </a:bodyPr>
          <a:lstStyle/>
          <a:p>
            <a:pPr marL="0" lvl="0" indent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900" b="1" kern="1200" dirty="0"/>
              <a:t>Developers</a:t>
            </a:r>
          </a:p>
        </p:txBody>
      </p:sp>
      <p:sp>
        <p:nvSpPr>
          <p:cNvPr id="22" name="Right Arrow 21">
            <a:extLst>
              <a:ext uri="{FF2B5EF4-FFF2-40B4-BE49-F238E27FC236}">
                <a16:creationId xmlns:a16="http://schemas.microsoft.com/office/drawing/2014/main" id="{8A5A0361-C1BA-2B4B-A19A-52737A792206}"/>
              </a:ext>
            </a:extLst>
          </p:cNvPr>
          <p:cNvSpPr/>
          <p:nvPr/>
        </p:nvSpPr>
        <p:spPr>
          <a:xfrm>
            <a:off x="8187114" y="3167154"/>
            <a:ext cx="654126" cy="549167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BDD1183-716C-78E3-6917-36BFEA9539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50275" y="3335307"/>
            <a:ext cx="249675" cy="249675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4B839E3-5F54-B30F-5074-E18737E087F6}"/>
              </a:ext>
            </a:extLst>
          </p:cNvPr>
          <p:cNvCxnSpPr/>
          <p:nvPr/>
        </p:nvCxnSpPr>
        <p:spPr>
          <a:xfrm>
            <a:off x="6719946" y="3024691"/>
            <a:ext cx="0" cy="200297"/>
          </a:xfrm>
          <a:prstGeom prst="line">
            <a:avLst/>
          </a:prstGeom>
          <a:ln w="31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653FB63-FA11-F8E5-BB4C-89AF4ECB1825}"/>
              </a:ext>
            </a:extLst>
          </p:cNvPr>
          <p:cNvCxnSpPr/>
          <p:nvPr/>
        </p:nvCxnSpPr>
        <p:spPr>
          <a:xfrm>
            <a:off x="6771547" y="3105670"/>
            <a:ext cx="0" cy="200297"/>
          </a:xfrm>
          <a:prstGeom prst="line">
            <a:avLst/>
          </a:prstGeom>
          <a:ln w="31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F311BB4-DC5F-EEB3-F679-43A30EE5885C}"/>
              </a:ext>
            </a:extLst>
          </p:cNvPr>
          <p:cNvCxnSpPr/>
          <p:nvPr/>
        </p:nvCxnSpPr>
        <p:spPr>
          <a:xfrm>
            <a:off x="6820238" y="3026605"/>
            <a:ext cx="0" cy="200297"/>
          </a:xfrm>
          <a:prstGeom prst="line">
            <a:avLst/>
          </a:prstGeom>
          <a:ln w="31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5E7313F-A59D-82CC-26A8-D34E900510BA}"/>
              </a:ext>
            </a:extLst>
          </p:cNvPr>
          <p:cNvSpPr txBox="1"/>
          <p:nvPr/>
        </p:nvSpPr>
        <p:spPr>
          <a:xfrm>
            <a:off x="7797150" y="2413451"/>
            <a:ext cx="13051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AI Forces a change in the game</a:t>
            </a:r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CAA4CA02-9620-595F-D492-52A7D1418E98}"/>
              </a:ext>
            </a:extLst>
          </p:cNvPr>
          <p:cNvSpPr/>
          <p:nvPr/>
        </p:nvSpPr>
        <p:spPr>
          <a:xfrm>
            <a:off x="5134571" y="1736394"/>
            <a:ext cx="148866" cy="197992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Left Brace 24">
            <a:extLst>
              <a:ext uri="{FF2B5EF4-FFF2-40B4-BE49-F238E27FC236}">
                <a16:creationId xmlns:a16="http://schemas.microsoft.com/office/drawing/2014/main" id="{4A376FC4-283D-01C7-4413-8521544E8B2C}"/>
              </a:ext>
            </a:extLst>
          </p:cNvPr>
          <p:cNvSpPr/>
          <p:nvPr/>
        </p:nvSpPr>
        <p:spPr>
          <a:xfrm>
            <a:off x="5139960" y="3771650"/>
            <a:ext cx="143477" cy="58076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FB05B45-7B35-F031-DC63-FBD2E4C77D00}"/>
              </a:ext>
            </a:extLst>
          </p:cNvPr>
          <p:cNvSpPr txBox="1"/>
          <p:nvPr/>
        </p:nvSpPr>
        <p:spPr>
          <a:xfrm rot="16200000">
            <a:off x="4552880" y="2587858"/>
            <a:ext cx="8515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Waterfall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BB4473-EE1B-26EA-6371-467265BEF0B8}"/>
              </a:ext>
            </a:extLst>
          </p:cNvPr>
          <p:cNvSpPr txBox="1"/>
          <p:nvPr/>
        </p:nvSpPr>
        <p:spPr>
          <a:xfrm rot="16200000">
            <a:off x="4670858" y="3943500"/>
            <a:ext cx="5629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Agile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D471998-07B1-526D-9D25-E699DD33571F}"/>
              </a:ext>
            </a:extLst>
          </p:cNvPr>
          <p:cNvSpPr txBox="1"/>
          <p:nvPr/>
        </p:nvSpPr>
        <p:spPr>
          <a:xfrm>
            <a:off x="5768067" y="3257071"/>
            <a:ext cx="814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65000"/>
                  </a:schemeClr>
                </a:solidFill>
              </a:rPr>
              <a:t>(holy hand grenade)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FFFE427-ECA6-6929-D7AA-E8D52AAB86A0}"/>
              </a:ext>
            </a:extLst>
          </p:cNvPr>
          <p:cNvSpPr txBox="1"/>
          <p:nvPr/>
        </p:nvSpPr>
        <p:spPr>
          <a:xfrm>
            <a:off x="9903559" y="3046792"/>
            <a:ext cx="5629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Agile</a:t>
            </a:r>
          </a:p>
        </p:txBody>
      </p:sp>
    </p:spTree>
    <p:extLst>
      <p:ext uri="{BB962C8B-B14F-4D97-AF65-F5344CB8AC3E}">
        <p14:creationId xmlns:p14="http://schemas.microsoft.com/office/powerpoint/2010/main" val="38759432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18246-7714-011C-78C3-2339DC0D1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forcing the change?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6B0901-793D-29AE-2964-4737494A295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AI makes you faster but introduces new risks.</a:t>
            </a:r>
          </a:p>
          <a:p>
            <a:endParaRPr lang="en-US" dirty="0"/>
          </a:p>
          <a:p>
            <a:r>
              <a:rPr lang="en-US" dirty="0"/>
              <a:t>You need protection</a:t>
            </a:r>
          </a:p>
          <a:p>
            <a:pPr marL="285750" indent="-285750">
              <a:buFontTx/>
              <a:buChar char="-"/>
            </a:pPr>
            <a:r>
              <a:rPr lang="en-US" dirty="0"/>
              <a:t>Indemnification</a:t>
            </a:r>
          </a:p>
          <a:p>
            <a:pPr marL="285750" indent="-285750">
              <a:buFontTx/>
              <a:buChar char="-"/>
            </a:pPr>
            <a:r>
              <a:rPr lang="en-US" dirty="0"/>
              <a:t>Intellectual Property Protection</a:t>
            </a:r>
          </a:p>
          <a:p>
            <a:pPr marL="285750" indent="-285750">
              <a:buFontTx/>
              <a:buChar char="-"/>
            </a:pPr>
            <a:r>
              <a:rPr lang="en-US" dirty="0"/>
              <a:t>Provenance</a:t>
            </a:r>
          </a:p>
          <a:p>
            <a:pPr marL="285750" indent="-285750">
              <a:buFontTx/>
              <a:buChar char="-"/>
            </a:pPr>
            <a:r>
              <a:rPr lang="en-US" dirty="0"/>
              <a:t>Copyright</a:t>
            </a:r>
          </a:p>
          <a:p>
            <a:pPr marL="285750" indent="-285750">
              <a:buFontTx/>
              <a:buChar char="-"/>
            </a:pPr>
            <a:r>
              <a:rPr lang="en-US" dirty="0"/>
              <a:t>More</a:t>
            </a:r>
          </a:p>
          <a:p>
            <a:endParaRPr lang="en-US" dirty="0"/>
          </a:p>
        </p:txBody>
      </p:sp>
      <p:pic>
        <p:nvPicPr>
          <p:cNvPr id="6" name="Picture 5" descr="A graph showing a loss of data&#10;&#10;AI-generated content may be incorrect.">
            <a:extLst>
              <a:ext uri="{FF2B5EF4-FFF2-40B4-BE49-F238E27FC236}">
                <a16:creationId xmlns:a16="http://schemas.microsoft.com/office/drawing/2014/main" id="{407EF003-7515-94B1-0BC9-79BC472C1E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257300"/>
            <a:ext cx="5013112" cy="3991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260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63370-8689-34F0-9C6C-91FD44EFC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4229923" cy="1049383"/>
          </a:xfrm>
        </p:spPr>
        <p:txBody>
          <a:bodyPr>
            <a:normAutofit/>
          </a:bodyPr>
          <a:lstStyle/>
          <a:p>
            <a:r>
              <a:rPr lang="en-US" dirty="0"/>
              <a:t>Context Engineering</a:t>
            </a:r>
            <a:br>
              <a:rPr lang="en-US" dirty="0"/>
            </a:br>
            <a:r>
              <a:rPr lang="en-US" dirty="0"/>
              <a:t>Lingo Level Set: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36532C-886F-17E6-F472-AD8432D788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Context Engineering is a shift in how we think about software development itself.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CEDM Context:</a:t>
            </a:r>
          </a:p>
          <a:p>
            <a:r>
              <a:rPr lang="en-US" sz="1400" dirty="0"/>
              <a:t>Context is the single source of truth that ensures alignment, accountability, and continuity across the system.</a:t>
            </a:r>
          </a:p>
          <a:p>
            <a:r>
              <a:rPr lang="en-US" sz="1400" dirty="0"/>
              <a:t>Context is the living framework of data and intent that guides both human and AI decision-making within well-defined boundaries.</a:t>
            </a:r>
          </a:p>
          <a:p>
            <a:r>
              <a:rPr lang="en-US" sz="1400" dirty="0"/>
              <a:t>Context is live, evolving continuously, and maintained as an integral part of the codebase. This is not an option.</a:t>
            </a:r>
          </a:p>
          <a:p>
            <a:r>
              <a:rPr lang="en-US" sz="1400" dirty="0"/>
              <a:t>Context is your code’s metadata</a:t>
            </a:r>
          </a:p>
          <a:p>
            <a:r>
              <a:rPr lang="en-US" sz="1400" dirty="0"/>
              <a:t>Context creates opportunity for project automation (change management for example)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40DE5E-7A35-7B8B-7903-AE7F27EE27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767840"/>
            <a:ext cx="3932237" cy="409321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Training: </a:t>
            </a:r>
          </a:p>
          <a:p>
            <a:r>
              <a:rPr lang="en-US" dirty="0"/>
              <a:t>- Make an LLM Smarter</a:t>
            </a:r>
          </a:p>
          <a:p>
            <a:endParaRPr lang="en-US" dirty="0"/>
          </a:p>
          <a:p>
            <a:r>
              <a:rPr lang="en-US" dirty="0"/>
              <a:t>Prompt: </a:t>
            </a:r>
          </a:p>
          <a:p>
            <a:r>
              <a:rPr lang="en-US" dirty="0"/>
              <a:t>- Ask an LLM a question</a:t>
            </a:r>
          </a:p>
          <a:p>
            <a:endParaRPr lang="en-US" dirty="0"/>
          </a:p>
          <a:p>
            <a:r>
              <a:rPr lang="en-US" dirty="0"/>
              <a:t>Prompt Engineering: </a:t>
            </a:r>
          </a:p>
          <a:p>
            <a:r>
              <a:rPr lang="en-US" dirty="0"/>
              <a:t>- Misnomer (IMHO)</a:t>
            </a:r>
          </a:p>
          <a:p>
            <a:endParaRPr lang="en-US" dirty="0"/>
          </a:p>
          <a:p>
            <a:r>
              <a:rPr lang="en-US" dirty="0"/>
              <a:t>Context: </a:t>
            </a:r>
          </a:p>
          <a:p>
            <a:r>
              <a:rPr lang="en-US" dirty="0"/>
              <a:t>- Supporting information for a series of prompts</a:t>
            </a:r>
          </a:p>
          <a:p>
            <a:endParaRPr lang="en-US" dirty="0"/>
          </a:p>
          <a:p>
            <a:r>
              <a:rPr lang="en-US" dirty="0"/>
              <a:t>Context Engineering: (per CEDM)</a:t>
            </a:r>
          </a:p>
          <a:p>
            <a:pPr>
              <a:lnSpc>
                <a:spcPct val="120000"/>
              </a:lnSpc>
            </a:pPr>
            <a:r>
              <a:rPr lang="en-US" dirty="0"/>
              <a:t>- The practice of structuring and managing information that AI systems use to reason and respond</a:t>
            </a:r>
          </a:p>
        </p:txBody>
      </p:sp>
    </p:spTree>
    <p:extLst>
      <p:ext uri="{BB962C8B-B14F-4D97-AF65-F5344CB8AC3E}">
        <p14:creationId xmlns:p14="http://schemas.microsoft.com/office/powerpoint/2010/main" val="16586386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1F32E-7376-37AE-1BC3-0B7C31B09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6C7F3C8C-936F-C6F2-6B37-5EA15A3557BF}"/>
              </a:ext>
            </a:extLst>
          </p:cNvPr>
          <p:cNvSpPr txBox="1">
            <a:spLocks/>
          </p:cNvSpPr>
          <p:nvPr/>
        </p:nvSpPr>
        <p:spPr>
          <a:xfrm>
            <a:off x="712694" y="243551"/>
            <a:ext cx="10515600" cy="7694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dirty="0"/>
              <a:t>Structured Context is the Source of Truth</a:t>
            </a:r>
          </a:p>
        </p:txBody>
      </p:sp>
      <p:sp>
        <p:nvSpPr>
          <p:cNvPr id="15" name="Snip Single Corner Rectangle 14">
            <a:extLst>
              <a:ext uri="{FF2B5EF4-FFF2-40B4-BE49-F238E27FC236}">
                <a16:creationId xmlns:a16="http://schemas.microsoft.com/office/drawing/2014/main" id="{5D60E520-2664-DC40-A5C6-D209707AC97D}"/>
              </a:ext>
            </a:extLst>
          </p:cNvPr>
          <p:cNvSpPr/>
          <p:nvPr/>
        </p:nvSpPr>
        <p:spPr>
          <a:xfrm>
            <a:off x="5481918" y="2637865"/>
            <a:ext cx="1389529" cy="1313329"/>
          </a:xfrm>
          <a:prstGeom prst="snip1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Structured</a:t>
            </a:r>
          </a:p>
          <a:p>
            <a:pPr algn="ctr"/>
            <a:r>
              <a:rPr lang="en-US" sz="1200" dirty="0"/>
              <a:t>Context</a:t>
            </a:r>
          </a:p>
          <a:p>
            <a:pPr algn="ctr"/>
            <a:r>
              <a:rPr lang="en-US" sz="1200" dirty="0"/>
              <a:t>Documents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(Versioned SCD’s)</a:t>
            </a:r>
          </a:p>
        </p:txBody>
      </p:sp>
      <p:pic>
        <p:nvPicPr>
          <p:cNvPr id="17" name="Graphic 16" descr="Children outline">
            <a:extLst>
              <a:ext uri="{FF2B5EF4-FFF2-40B4-BE49-F238E27FC236}">
                <a16:creationId xmlns:a16="http://schemas.microsoft.com/office/drawing/2014/main" id="{43331919-90EF-213C-48BB-045A614ED0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7152" y="1503361"/>
            <a:ext cx="914400" cy="914400"/>
          </a:xfrm>
          <a:prstGeom prst="rect">
            <a:avLst/>
          </a:prstGeom>
        </p:spPr>
      </p:pic>
      <p:pic>
        <p:nvPicPr>
          <p:cNvPr id="19" name="Graphic 18" descr="Children with solid fill">
            <a:extLst>
              <a:ext uri="{FF2B5EF4-FFF2-40B4-BE49-F238E27FC236}">
                <a16:creationId xmlns:a16="http://schemas.microsoft.com/office/drawing/2014/main" id="{8B39F4F7-FEA0-36FB-C86C-225FA8A055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7152" y="2837329"/>
            <a:ext cx="914400" cy="914400"/>
          </a:xfrm>
          <a:prstGeom prst="rect">
            <a:avLst/>
          </a:prstGeom>
        </p:spPr>
      </p:pic>
      <p:pic>
        <p:nvPicPr>
          <p:cNvPr id="21" name="Graphic 20" descr="Office worker male with solid fill">
            <a:extLst>
              <a:ext uri="{FF2B5EF4-FFF2-40B4-BE49-F238E27FC236}">
                <a16:creationId xmlns:a16="http://schemas.microsoft.com/office/drawing/2014/main" id="{E3997895-6787-1EF9-9025-5B832EFC69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7152" y="4171297"/>
            <a:ext cx="914400" cy="9144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271F188C-8376-EEF1-FE5D-F9830A5581CA}"/>
              </a:ext>
            </a:extLst>
          </p:cNvPr>
          <p:cNvSpPr txBox="1"/>
          <p:nvPr/>
        </p:nvSpPr>
        <p:spPr>
          <a:xfrm>
            <a:off x="704856" y="2246837"/>
            <a:ext cx="1165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Project Team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E42159-CDCA-FCF2-9ECA-EABC62B1B6BA}"/>
              </a:ext>
            </a:extLst>
          </p:cNvPr>
          <p:cNvSpPr txBox="1"/>
          <p:nvPr/>
        </p:nvSpPr>
        <p:spPr>
          <a:xfrm>
            <a:off x="579021" y="3586592"/>
            <a:ext cx="1465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Standards Bodies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AF5568-4594-AAA1-6D29-C437515E024A}"/>
              </a:ext>
            </a:extLst>
          </p:cNvPr>
          <p:cNvSpPr txBox="1"/>
          <p:nvPr/>
        </p:nvSpPr>
        <p:spPr>
          <a:xfrm>
            <a:off x="849127" y="5085697"/>
            <a:ext cx="8178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Investors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914A9EE-0F0E-0BAF-C82B-0A5E9E14B55E}"/>
              </a:ext>
            </a:extLst>
          </p:cNvPr>
          <p:cNvSpPr txBox="1"/>
          <p:nvPr/>
        </p:nvSpPr>
        <p:spPr>
          <a:xfrm>
            <a:off x="5422309" y="4089693"/>
            <a:ext cx="15087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Project Guardrails</a:t>
            </a:r>
          </a:p>
          <a:p>
            <a:pPr algn="ctr"/>
            <a:r>
              <a:rPr lang="en-US" sz="1200" dirty="0"/>
              <a:t>aka</a:t>
            </a:r>
          </a:p>
          <a:p>
            <a:pPr algn="ctr"/>
            <a:r>
              <a:rPr lang="en-US" sz="1200" dirty="0"/>
              <a:t>Contracts</a:t>
            </a:r>
          </a:p>
        </p:txBody>
      </p:sp>
      <p:pic>
        <p:nvPicPr>
          <p:cNvPr id="28" name="Graphic 27" descr="Tools outline">
            <a:extLst>
              <a:ext uri="{FF2B5EF4-FFF2-40B4-BE49-F238E27FC236}">
                <a16:creationId xmlns:a16="http://schemas.microsoft.com/office/drawing/2014/main" id="{62DBA7B3-2F2C-A745-0E8F-C24ED147989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533882" y="2837329"/>
            <a:ext cx="914400" cy="9144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1CAFAFCE-C2B8-0FE8-024A-FD744CCCABCE}"/>
              </a:ext>
            </a:extLst>
          </p:cNvPr>
          <p:cNvSpPr txBox="1"/>
          <p:nvPr/>
        </p:nvSpPr>
        <p:spPr>
          <a:xfrm>
            <a:off x="10622231" y="3833332"/>
            <a:ext cx="7377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Builders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A1D6C85-EDC8-9344-EF5C-FABB5AFAA41D}"/>
              </a:ext>
            </a:extLst>
          </p:cNvPr>
          <p:cNvCxnSpPr/>
          <p:nvPr/>
        </p:nvCxnSpPr>
        <p:spPr>
          <a:xfrm>
            <a:off x="1870560" y="2021840"/>
            <a:ext cx="3430645" cy="8154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5B7CEAB-1437-0F14-9446-5E6227D5DAAF}"/>
              </a:ext>
            </a:extLst>
          </p:cNvPr>
          <p:cNvCxnSpPr/>
          <p:nvPr/>
        </p:nvCxnSpPr>
        <p:spPr>
          <a:xfrm>
            <a:off x="1956122" y="3385820"/>
            <a:ext cx="334508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99F9C6A-5109-73B9-54A5-B08F6904CF64}"/>
              </a:ext>
            </a:extLst>
          </p:cNvPr>
          <p:cNvCxnSpPr/>
          <p:nvPr/>
        </p:nvCxnSpPr>
        <p:spPr>
          <a:xfrm flipV="1">
            <a:off x="1747777" y="3751729"/>
            <a:ext cx="3553428" cy="9842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EB9E12B4-DFC0-2276-B9A3-06FF98B9E7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4300800"/>
              </p:ext>
            </p:extLst>
          </p:nvPr>
        </p:nvGraphicFramePr>
        <p:xfrm>
          <a:off x="2367499" y="2021840"/>
          <a:ext cx="2196011" cy="2814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96011">
                  <a:extLst>
                    <a:ext uri="{9D8B030D-6E8A-4147-A177-3AD203B41FA5}">
                      <a16:colId xmlns:a16="http://schemas.microsoft.com/office/drawing/2014/main" val="15885320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Create Context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0584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i="1" dirty="0"/>
                        <a:t>Build the Source of Truth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487734"/>
                  </a:ext>
                </a:extLst>
              </a:tr>
              <a:tr h="1946365">
                <a:tc>
                  <a:txBody>
                    <a:bodyPr/>
                    <a:lstStyle/>
                    <a:p>
                      <a:pPr algn="l"/>
                      <a:endParaRPr lang="en-US" sz="1000" dirty="0"/>
                    </a:p>
                    <a:p>
                      <a:pPr algn="l"/>
                      <a:r>
                        <a:rPr lang="en-US" sz="1000" dirty="0"/>
                        <a:t>Creators: Vision, Design, Architecture, Governance</a:t>
                      </a:r>
                    </a:p>
                    <a:p>
                      <a:pPr algn="l"/>
                      <a:endParaRPr lang="en-US" sz="1000" dirty="0"/>
                    </a:p>
                    <a:p>
                      <a:pPr algn="l"/>
                      <a:r>
                        <a:rPr lang="en-US" sz="1000" dirty="0"/>
                        <a:t>Inputs: Text, Models, Diagrams, Data</a:t>
                      </a:r>
                    </a:p>
                    <a:p>
                      <a:pPr algn="l"/>
                      <a:endParaRPr lang="en-US" sz="1000" dirty="0"/>
                    </a:p>
                    <a:p>
                      <a:pPr algn="l"/>
                      <a:r>
                        <a:rPr lang="en-US" sz="1000" dirty="0"/>
                        <a:t>Outputs: Structured Context definitions (SCID, Contracts, Models)</a:t>
                      </a:r>
                    </a:p>
                    <a:p>
                      <a:pPr algn="l"/>
                      <a:endParaRPr lang="en-US" sz="1000" dirty="0"/>
                    </a:p>
                    <a:p>
                      <a:pPr algn="l"/>
                      <a:r>
                        <a:rPr lang="en-US" sz="1000" dirty="0"/>
                        <a:t>Goal: Define intent, scope, rules, and boundaries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6750825"/>
                  </a:ext>
                </a:extLst>
              </a:tr>
            </a:tbl>
          </a:graphicData>
        </a:graphic>
      </p:graphicFrame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6723512-F1B2-1112-0748-6B260BFA4541}"/>
              </a:ext>
            </a:extLst>
          </p:cNvPr>
          <p:cNvCxnSpPr/>
          <p:nvPr/>
        </p:nvCxnSpPr>
        <p:spPr>
          <a:xfrm>
            <a:off x="7060557" y="3294529"/>
            <a:ext cx="3379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FB470047-A735-A978-903F-CD85C4E9FA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200833"/>
              </p:ext>
            </p:extLst>
          </p:nvPr>
        </p:nvGraphicFramePr>
        <p:xfrm>
          <a:off x="7648833" y="1935480"/>
          <a:ext cx="2196011" cy="2900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96011">
                  <a:extLst>
                    <a:ext uri="{9D8B030D-6E8A-4147-A177-3AD203B41FA5}">
                      <a16:colId xmlns:a16="http://schemas.microsoft.com/office/drawing/2014/main" val="15885320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Leverage Context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0584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i="1" dirty="0"/>
                        <a:t>Build, Test, and Govern Through Context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487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000" i="1" dirty="0"/>
                        <a:t>Consumers: Developers, Testers, Analysts, AI Agents</a:t>
                      </a:r>
                    </a:p>
                    <a:p>
                      <a:pPr algn="l"/>
                      <a:endParaRPr lang="en-US" sz="1000" i="1" dirty="0"/>
                    </a:p>
                    <a:p>
                      <a:pPr algn="l"/>
                      <a:r>
                        <a:rPr lang="en-US" sz="1000" i="1" dirty="0"/>
                        <a:t>Activities: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000" i="1" dirty="0"/>
                        <a:t>Build systems aligned with definitions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000" i="1" dirty="0"/>
                        <a:t>Generate and validate code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000" i="1" dirty="0"/>
                        <a:t>Execute automated testing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000" i="1" dirty="0"/>
                        <a:t>Apply guardrails and measure KPIs</a:t>
                      </a:r>
                    </a:p>
                    <a:p>
                      <a:pPr algn="l"/>
                      <a:endParaRPr lang="en-US" sz="1000" i="1" dirty="0"/>
                    </a:p>
                    <a:p>
                      <a:pPr algn="l"/>
                      <a:r>
                        <a:rPr lang="en-US" sz="1000" i="1" dirty="0"/>
                        <a:t>Goal: Deliver outcomes that remain true to intent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6750825"/>
                  </a:ext>
                </a:extLst>
              </a:tr>
            </a:tbl>
          </a:graphicData>
        </a:graphic>
      </p:graphicFrame>
      <p:sp>
        <p:nvSpPr>
          <p:cNvPr id="40" name="TextBox 39">
            <a:extLst>
              <a:ext uri="{FF2B5EF4-FFF2-40B4-BE49-F238E27FC236}">
                <a16:creationId xmlns:a16="http://schemas.microsoft.com/office/drawing/2014/main" id="{49DA0D83-9B0A-55AC-F317-54ED3C760A72}"/>
              </a:ext>
            </a:extLst>
          </p:cNvPr>
          <p:cNvSpPr txBox="1"/>
          <p:nvPr/>
        </p:nvSpPr>
        <p:spPr>
          <a:xfrm>
            <a:off x="5532114" y="2274353"/>
            <a:ext cx="12891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/>
              <a:t>Source of Truth</a:t>
            </a:r>
          </a:p>
        </p:txBody>
      </p:sp>
    </p:spTree>
    <p:extLst>
      <p:ext uri="{BB962C8B-B14F-4D97-AF65-F5344CB8AC3E}">
        <p14:creationId xmlns:p14="http://schemas.microsoft.com/office/powerpoint/2010/main" val="9470597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D599B-A4CB-1F62-DD62-2DACE4FBB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897038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kern="1200" dirty="0">
                <a:latin typeface="+mj-lt"/>
                <a:ea typeface="+mj-ea"/>
                <a:cs typeface="+mj-cs"/>
              </a:rPr>
              <a:t>Structured Context Documents (SCDs)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05B933-E193-8D6C-3ED5-65D22CD53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0182" y="296957"/>
            <a:ext cx="4701658" cy="5564094"/>
          </a:xfrm>
          <a:prstGeom prst="rect">
            <a:avLst/>
          </a:prstGeom>
          <a:noFill/>
        </p:spPr>
      </p:pic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91837CD-4CEA-BB4C-EA6A-74C8A2A060AA}"/>
              </a:ext>
            </a:extLst>
          </p:cNvPr>
          <p:cNvSpPr txBox="1">
            <a:spLocks/>
          </p:cNvSpPr>
          <p:nvPr/>
        </p:nvSpPr>
        <p:spPr>
          <a:xfrm>
            <a:off x="839788" y="1551008"/>
            <a:ext cx="4415118" cy="43179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kern="1200" dirty="0">
                <a:latin typeface="+mn-lt"/>
                <a:ea typeface="+mn-ea"/>
                <a:cs typeface="+mn-cs"/>
              </a:rPr>
              <a:t>Structured context is represented as either JSON or YAML. </a:t>
            </a:r>
          </a:p>
          <a:p>
            <a:pPr marL="0" indent="0">
              <a:buNone/>
            </a:pPr>
            <a:r>
              <a:rPr lang="en-US" sz="1600" kern="1200" dirty="0">
                <a:latin typeface="+mn-lt"/>
                <a:ea typeface="+mn-ea"/>
                <a:cs typeface="+mn-cs"/>
              </a:rPr>
              <a:t>AI Agent tran</a:t>
            </a:r>
            <a:r>
              <a:rPr lang="en-US" sz="1600" dirty="0"/>
              <a:t>sforms specifications, documents, tables, drawings into SCDs</a:t>
            </a:r>
            <a:endParaRPr lang="en-US" sz="1600" kern="1200" dirty="0">
              <a:latin typeface="+mn-lt"/>
              <a:ea typeface="+mn-ea"/>
              <a:cs typeface="+mn-cs"/>
            </a:endParaRPr>
          </a:p>
          <a:p>
            <a:pPr marL="0" indent="0">
              <a:buNone/>
            </a:pPr>
            <a:r>
              <a:rPr lang="en-US" sz="1600" dirty="0"/>
              <a:t>SCDs are both machine and human readable.</a:t>
            </a:r>
          </a:p>
          <a:p>
            <a:pPr marL="0" indent="0">
              <a:buNone/>
            </a:pPr>
            <a:r>
              <a:rPr lang="en-US" sz="1600" dirty="0"/>
              <a:t>SCDs provide AI with meta data (context) for Generative Tasks.</a:t>
            </a:r>
          </a:p>
          <a:p>
            <a:pPr marL="0" indent="0">
              <a:buNone/>
            </a:pPr>
            <a:r>
              <a:rPr lang="en-US" sz="1600" dirty="0"/>
              <a:t>Provides Humans with explicit yet concise contract for development criteria.</a:t>
            </a:r>
          </a:p>
        </p:txBody>
      </p:sp>
    </p:spTree>
    <p:extLst>
      <p:ext uri="{BB962C8B-B14F-4D97-AF65-F5344CB8AC3E}">
        <p14:creationId xmlns:p14="http://schemas.microsoft.com/office/powerpoint/2010/main" val="5576169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04E8E-FBD2-3A9B-1EBA-3E85C5B10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SCD Specification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E1E758-B54D-C5DC-77A6-A232B91FC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D780D-D31D-5914-FAA7-DA960354EA87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950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E9414-A5E1-1614-2C74-C3CA2CFDD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SCDs for Projects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2DD0A5-3C6A-7994-69DD-C7F154267A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10320460" cy="4042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6724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5427A-D290-A724-F108-47C85BD4B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SCDs for Standards</a:t>
            </a:r>
          </a:p>
        </p:txBody>
      </p:sp>
    </p:spTree>
    <p:extLst>
      <p:ext uri="{BB962C8B-B14F-4D97-AF65-F5344CB8AC3E}">
        <p14:creationId xmlns:p14="http://schemas.microsoft.com/office/powerpoint/2010/main" val="23534922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C445BA-B015-906A-D6A2-BBE6237A9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Deep Dive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152021-9F9C-2568-96D5-FDB4ACDA7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PPT in process</a:t>
            </a:r>
          </a:p>
        </p:txBody>
      </p:sp>
    </p:spTree>
    <p:extLst>
      <p:ext uri="{BB962C8B-B14F-4D97-AF65-F5344CB8AC3E}">
        <p14:creationId xmlns:p14="http://schemas.microsoft.com/office/powerpoint/2010/main" val="41178398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7C173-8E45-FEC9-7B89-539C65793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Study </a:t>
            </a:r>
            <a:br>
              <a:rPr lang="en-US" dirty="0"/>
            </a:br>
            <a:r>
              <a:rPr lang="en-US" sz="1800" dirty="0"/>
              <a:t>(reference implementation)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077A1B-B348-470A-4138-CD9EBB450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PPT in process</a:t>
            </a:r>
          </a:p>
        </p:txBody>
      </p:sp>
    </p:spTree>
    <p:extLst>
      <p:ext uri="{BB962C8B-B14F-4D97-AF65-F5344CB8AC3E}">
        <p14:creationId xmlns:p14="http://schemas.microsoft.com/office/powerpoint/2010/main" val="4538330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A0FDF-41A8-EBE5-FE90-643D9ABF0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02AC37-C3D8-F919-09BA-42628980B2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3850" y="992187"/>
            <a:ext cx="6407921" cy="487362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800" b="1" dirty="0"/>
              <a:t>Vision • Design • Build • Govern</a:t>
            </a:r>
          </a:p>
          <a:p>
            <a:pPr marL="0" indent="0" algn="ctr">
              <a:buNone/>
            </a:pPr>
            <a:endParaRPr lang="en-US" sz="2800" b="1" dirty="0"/>
          </a:p>
          <a:p>
            <a:pPr marL="0" indent="0">
              <a:buNone/>
            </a:pPr>
            <a:r>
              <a:rPr lang="en-US" sz="1400" dirty="0"/>
              <a:t>Vision — defines intent and value (</a:t>
            </a: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leaders, stakeholders</a:t>
            </a:r>
            <a:r>
              <a:rPr lang="en-US" sz="1400" dirty="0"/>
              <a:t>)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Design — shapes structure and flow (</a:t>
            </a: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architects, analysts</a:t>
            </a:r>
            <a:r>
              <a:rPr lang="en-US" sz="1400" dirty="0"/>
              <a:t>)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Build — implements and adapts (</a:t>
            </a: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developers, engineers</a:t>
            </a:r>
            <a:r>
              <a:rPr lang="en-US" sz="1400" dirty="0"/>
              <a:t>)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/>
              <a:t>Govern — ensures continuity and integrity (</a:t>
            </a: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managers, compliance, AI</a:t>
            </a:r>
            <a:r>
              <a:rPr lang="en-US" sz="1400" dirty="0"/>
              <a:t>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F7E496-BFA8-22B5-6ADC-93B5447815C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Each team member works with an AI Assistant.  </a:t>
            </a:r>
          </a:p>
          <a:p>
            <a:pPr>
              <a:lnSpc>
                <a:spcPct val="100000"/>
              </a:lnSpc>
            </a:pPr>
            <a:endParaRPr lang="en-US" dirty="0"/>
          </a:p>
          <a:p>
            <a:pPr>
              <a:lnSpc>
                <a:spcPct val="100000"/>
              </a:lnSpc>
            </a:pPr>
            <a:r>
              <a:rPr lang="en-US" dirty="0"/>
              <a:t>Formerly: Extreme Programming (XP)</a:t>
            </a:r>
          </a:p>
          <a:p>
            <a:pPr>
              <a:lnSpc>
                <a:spcPct val="100000"/>
              </a:lnSpc>
            </a:pPr>
            <a:r>
              <a:rPr lang="en-US" dirty="0"/>
              <a:t>Now: Extended Programming (</a:t>
            </a:r>
            <a:r>
              <a:rPr lang="en-US" dirty="0" err="1"/>
              <a:t>ExP</a:t>
            </a:r>
            <a:r>
              <a:rPr lang="en-US" dirty="0"/>
              <a:t>)</a:t>
            </a:r>
          </a:p>
          <a:p>
            <a:pPr>
              <a:lnSpc>
                <a:spcPct val="100000"/>
              </a:lnSpc>
            </a:pPr>
            <a:endParaRPr lang="en-US" dirty="0"/>
          </a:p>
          <a:p>
            <a:pPr>
              <a:lnSpc>
                <a:spcPct val="100000"/>
              </a:lnSpc>
            </a:pPr>
            <a:r>
              <a:rPr lang="en-US" dirty="0"/>
              <a:t>All accountable roles are part of the team (with their personal AI Assistant), each with defined responsibilities and a shared contract.</a:t>
            </a:r>
          </a:p>
        </p:txBody>
      </p:sp>
    </p:spTree>
    <p:extLst>
      <p:ext uri="{BB962C8B-B14F-4D97-AF65-F5344CB8AC3E}">
        <p14:creationId xmlns:p14="http://schemas.microsoft.com/office/powerpoint/2010/main" val="42451341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17C75-4729-07E1-6746-489B12CC9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Layers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1B29825-A1D6-A2C4-1942-D58B4CA871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6383441"/>
              </p:ext>
            </p:extLst>
          </p:nvPr>
        </p:nvGraphicFramePr>
        <p:xfrm>
          <a:off x="838199" y="1690688"/>
          <a:ext cx="10334896" cy="4216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83724">
                  <a:extLst>
                    <a:ext uri="{9D8B030D-6E8A-4147-A177-3AD203B41FA5}">
                      <a16:colId xmlns:a16="http://schemas.microsoft.com/office/drawing/2014/main" val="4079771654"/>
                    </a:ext>
                  </a:extLst>
                </a:gridCol>
                <a:gridCol w="2583724">
                  <a:extLst>
                    <a:ext uri="{9D8B030D-6E8A-4147-A177-3AD203B41FA5}">
                      <a16:colId xmlns:a16="http://schemas.microsoft.com/office/drawing/2014/main" val="3088214061"/>
                    </a:ext>
                  </a:extLst>
                </a:gridCol>
                <a:gridCol w="2583724">
                  <a:extLst>
                    <a:ext uri="{9D8B030D-6E8A-4147-A177-3AD203B41FA5}">
                      <a16:colId xmlns:a16="http://schemas.microsoft.com/office/drawing/2014/main" val="3461240253"/>
                    </a:ext>
                  </a:extLst>
                </a:gridCol>
                <a:gridCol w="2583724">
                  <a:extLst>
                    <a:ext uri="{9D8B030D-6E8A-4147-A177-3AD203B41FA5}">
                      <a16:colId xmlns:a16="http://schemas.microsoft.com/office/drawing/2014/main" val="7002144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Vision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Design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Build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Govern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15104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Defines why the system exists and what value it delivers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Shapes how the system achieves intent within defined boundaries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Implements and evolves the designed system through living code and context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Ensures continuity, integrity, and alignment across all components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75383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200" dirty="0"/>
                    </a:p>
                    <a:p>
                      <a:r>
                        <a:rPr lang="en-US" sz="1200" dirty="0"/>
                        <a:t>• System Concept &amp; Intent</a:t>
                      </a:r>
                    </a:p>
                    <a:p>
                      <a:endParaRPr lang="en-US" sz="1200" dirty="0"/>
                    </a:p>
                    <a:p>
                      <a:r>
                        <a:rPr lang="en-US" sz="1200" dirty="0"/>
                        <a:t>• Purpose, scope, outcomes, and success metrics  </a:t>
                      </a:r>
                    </a:p>
                    <a:p>
                      <a:endParaRPr lang="en-US" sz="1200" dirty="0"/>
                    </a:p>
                    <a:p>
                      <a:r>
                        <a:rPr lang="en-US" sz="1200" dirty="0"/>
                        <a:t>• Stakeholders, constraints, dependencies  </a:t>
                      </a:r>
                    </a:p>
                    <a:p>
                      <a:endParaRPr lang="en-US" sz="1200" dirty="0"/>
                    </a:p>
                    <a:p>
                      <a:r>
                        <a:rPr lang="en-US" sz="1200" dirty="0"/>
                        <a:t>• Establish initial context boundaries for AI and humans</a:t>
                      </a:r>
                    </a:p>
                    <a:p>
                      <a:endParaRPr lang="en-US" sz="12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  <a:p>
                      <a:r>
                        <a:rPr lang="en-US" sz="1200" dirty="0"/>
                        <a:t>• Architecture models (System → Assembly → Component)  </a:t>
                      </a:r>
                    </a:p>
                    <a:p>
                      <a:endParaRPr lang="en-US" sz="1200" dirty="0"/>
                    </a:p>
                    <a:p>
                      <a:r>
                        <a:rPr lang="en-US" sz="1200" dirty="0"/>
                        <a:t>• Data models, interfaces, and contracts  </a:t>
                      </a:r>
                    </a:p>
                    <a:p>
                      <a:endParaRPr lang="en-US" sz="1200" dirty="0"/>
                    </a:p>
                    <a:p>
                      <a:r>
                        <a:rPr lang="en-US" sz="1200" dirty="0"/>
                        <a:t>• Context structure (definitions, Inputs, outputs, constraints)  </a:t>
                      </a:r>
                    </a:p>
                    <a:p>
                      <a:endParaRPr lang="en-US" sz="1200" dirty="0"/>
                    </a:p>
                    <a:p>
                      <a:r>
                        <a:rPr lang="en-US" sz="1200" dirty="0"/>
                        <a:t>• Governance hooks for compliance and telemetry</a:t>
                      </a:r>
                    </a:p>
                    <a:p>
                      <a:endParaRPr lang="en-US" sz="12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  <a:p>
                      <a:r>
                        <a:rPr lang="en-US" sz="1200" dirty="0"/>
                        <a:t>• Develop Components within scope of contracts</a:t>
                      </a:r>
                    </a:p>
                    <a:p>
                      <a:endParaRPr lang="en-US" sz="1200" dirty="0"/>
                    </a:p>
                    <a:p>
                      <a:r>
                        <a:rPr lang="en-US" sz="1200" dirty="0"/>
                        <a:t>• Maintain synchronized context files with code  </a:t>
                      </a:r>
                    </a:p>
                    <a:p>
                      <a:endParaRPr lang="en-US" sz="1200" dirty="0"/>
                    </a:p>
                    <a:p>
                      <a:r>
                        <a:rPr lang="en-US" sz="1200" dirty="0"/>
                        <a:t>• Perform continuous testing, validation, and integration  </a:t>
                      </a:r>
                    </a:p>
                    <a:p>
                      <a:endParaRPr lang="en-US" sz="1200" dirty="0"/>
                    </a:p>
                    <a:p>
                      <a:r>
                        <a:rPr lang="en-US" sz="1200" dirty="0"/>
                        <a:t>• Generate autonomic documentation (self-updating via context)</a:t>
                      </a:r>
                    </a:p>
                    <a:p>
                      <a:endParaRPr lang="en-US" sz="12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  <a:p>
                      <a:r>
                        <a:rPr lang="en-US" sz="1200" dirty="0"/>
                        <a:t>• Manage versioned context and configuration  </a:t>
                      </a:r>
                    </a:p>
                    <a:p>
                      <a:endParaRPr lang="en-US" sz="1200" dirty="0"/>
                    </a:p>
                    <a:p>
                      <a:r>
                        <a:rPr lang="en-US" sz="1200" dirty="0"/>
                        <a:t>• Monitor compliance, telemetry, and performance metrics  </a:t>
                      </a:r>
                    </a:p>
                    <a:p>
                      <a:endParaRPr lang="en-US" sz="1200" dirty="0"/>
                    </a:p>
                    <a:p>
                      <a:r>
                        <a:rPr lang="en-US" sz="1200" dirty="0"/>
                        <a:t>• Validate alignment to intent and scope (closed-loop feedback)  </a:t>
                      </a:r>
                    </a:p>
                    <a:p>
                      <a:endParaRPr lang="en-US" sz="1200" dirty="0"/>
                    </a:p>
                    <a:p>
                      <a:r>
                        <a:rPr lang="en-US" sz="1200" dirty="0"/>
                        <a:t>• Oversee AI behavior, bias, and transparency</a:t>
                      </a:r>
                    </a:p>
                    <a:p>
                      <a:endParaRPr lang="en-US" sz="12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84575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06931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611524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58B3C-4131-7B68-5BD9-58B120D5E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9386A-3FD8-59AB-0275-B25383A90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Members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91B3F5F-76EB-8F83-6B7C-050641D64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6474632"/>
              </p:ext>
            </p:extLst>
          </p:nvPr>
        </p:nvGraphicFramePr>
        <p:xfrm>
          <a:off x="719546" y="1577476"/>
          <a:ext cx="10752908" cy="4216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88227">
                  <a:extLst>
                    <a:ext uri="{9D8B030D-6E8A-4147-A177-3AD203B41FA5}">
                      <a16:colId xmlns:a16="http://schemas.microsoft.com/office/drawing/2014/main" val="4079771654"/>
                    </a:ext>
                  </a:extLst>
                </a:gridCol>
                <a:gridCol w="2688227">
                  <a:extLst>
                    <a:ext uri="{9D8B030D-6E8A-4147-A177-3AD203B41FA5}">
                      <a16:colId xmlns:a16="http://schemas.microsoft.com/office/drawing/2014/main" val="3088214061"/>
                    </a:ext>
                  </a:extLst>
                </a:gridCol>
                <a:gridCol w="2688227">
                  <a:extLst>
                    <a:ext uri="{9D8B030D-6E8A-4147-A177-3AD203B41FA5}">
                      <a16:colId xmlns:a16="http://schemas.microsoft.com/office/drawing/2014/main" val="3461240253"/>
                    </a:ext>
                  </a:extLst>
                </a:gridCol>
                <a:gridCol w="2688227">
                  <a:extLst>
                    <a:ext uri="{9D8B030D-6E8A-4147-A177-3AD203B41FA5}">
                      <a16:colId xmlns:a16="http://schemas.microsoft.com/office/drawing/2014/main" val="7002144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Vision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Design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Build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Govern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15104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Defines why the system exists and what value it delivers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Shapes how the system achieves intent within defined boundaries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Implements and evolves the designed system through living code and context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Ensures continuity, integrity, and alignment across all components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75383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200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Product Manager  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endParaRPr lang="en-US" sz="1200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Investment Board / Executive Sponsor  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endParaRPr lang="en-US" sz="1200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CFO / CSO (strategy, risk, funding)  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endParaRPr lang="en-US" sz="1200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Clinical / Domain Leads (where applicable)  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endParaRPr lang="en-US" sz="1200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AI Vision Assistant (maintains SCID, value tracking)</a:t>
                      </a:r>
                    </a:p>
                    <a:p>
                      <a:endParaRPr lang="en-US" sz="12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Enterprise Architect  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endParaRPr lang="en-US" sz="1200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Solution Architect  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endParaRPr lang="en-US" sz="1200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Business / Data Analyst  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endParaRPr lang="en-US" sz="1200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UX / Service Designer  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endParaRPr lang="en-US" sz="1200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QA / Test Architect  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endParaRPr lang="en-US" sz="1200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AI Design Assistant (context modeling, compliance mapping)</a:t>
                      </a:r>
                    </a:p>
                    <a:p>
                      <a:endParaRPr lang="en-US" sz="12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Developers / Engineers  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endParaRPr lang="en-US" sz="1200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AI Agents / Developers (for specialized components)  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endParaRPr lang="en-US" sz="1200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DevOps / </a:t>
                      </a:r>
                      <a:r>
                        <a:rPr lang="en-US" sz="1200" dirty="0" err="1"/>
                        <a:t>MLOps</a:t>
                      </a:r>
                      <a:r>
                        <a:rPr lang="en-US" sz="1200" dirty="0"/>
                        <a:t> Engineers  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endParaRPr lang="en-US" sz="1200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Data Engineers / Model Trainers  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endParaRPr lang="en-US" sz="1200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Test Automation / Integration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endParaRPr lang="en-US" sz="1200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AI Build Assistant (code + test generation, validation)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Governance Manager / Compliance Officer  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endParaRPr lang="en-US" sz="1200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Security &amp; Privacy Lead  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endParaRPr lang="en-US" sz="1200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Performance / Reliability Engineer  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endParaRPr lang="en-US" sz="1200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Infrastructure / Platform Engineer  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endParaRPr lang="en-US" sz="1200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AI Governance Assistant (policy checks, bias monitoring, telemetry validation)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84575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06931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55680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14677</TotalTime>
  <Words>1184</Words>
  <Application>Microsoft Macintosh PowerPoint</Application>
  <PresentationFormat>Widescreen</PresentationFormat>
  <Paragraphs>262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Century Gothic</vt:lpstr>
      <vt:lpstr>Office Theme</vt:lpstr>
      <vt:lpstr>Context Engineering Development Model (CEDM)</vt:lpstr>
      <vt:lpstr>Context Engineering Development Model</vt:lpstr>
      <vt:lpstr>Book Outline</vt:lpstr>
      <vt:lpstr>Introduction</vt:lpstr>
      <vt:lpstr>PowerPoint Presentation</vt:lpstr>
      <vt:lpstr>Today’s Development Teams</vt:lpstr>
      <vt:lpstr>What is forcing the change?</vt:lpstr>
      <vt:lpstr>Context Engineering Lingo Level Set:</vt:lpstr>
      <vt:lpstr>PowerPoint Presentation</vt:lpstr>
      <vt:lpstr>Structured Context Documents (SCDs)</vt:lpstr>
      <vt:lpstr>SCD Specification</vt:lpstr>
      <vt:lpstr>SCDs for Projects</vt:lpstr>
      <vt:lpstr>SCDs for Standards</vt:lpstr>
      <vt:lpstr>Deep Dive</vt:lpstr>
      <vt:lpstr>Case Study  (reference implementation)</vt:lpstr>
      <vt:lpstr>Teams</vt:lpstr>
      <vt:lpstr>Team Layers</vt:lpstr>
      <vt:lpstr>Team Members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Timothy McCrimmon</dc:creator>
  <cp:lastModifiedBy>Timothy McCrimmon</cp:lastModifiedBy>
  <cp:revision>47</cp:revision>
  <dcterms:created xsi:type="dcterms:W3CDTF">2025-08-14T19:36:48Z</dcterms:created>
  <dcterms:modified xsi:type="dcterms:W3CDTF">2025-11-20T14:27:12Z</dcterms:modified>
</cp:coreProperties>
</file>