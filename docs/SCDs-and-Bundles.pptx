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16" r:id="rId3"/>
    <p:sldId id="335" r:id="rId4"/>
    <p:sldId id="336" r:id="rId5"/>
    <p:sldId id="257" r:id="rId6"/>
    <p:sldId id="326" r:id="rId7"/>
    <p:sldId id="341" r:id="rId8"/>
    <p:sldId id="323" r:id="rId9"/>
    <p:sldId id="340" r:id="rId10"/>
    <p:sldId id="315" r:id="rId11"/>
    <p:sldId id="342" r:id="rId12"/>
    <p:sldId id="345" r:id="rId13"/>
    <p:sldId id="343" r:id="rId14"/>
    <p:sldId id="344" r:id="rId15"/>
    <p:sldId id="337" r:id="rId16"/>
    <p:sldId id="338" r:id="rId17"/>
    <p:sldId id="324" r:id="rId18"/>
    <p:sldId id="327" r:id="rId19"/>
    <p:sldId id="32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4F"/>
    <a:srgbClr val="161E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0"/>
    <p:restoredTop sz="94731"/>
  </p:normalViewPr>
  <p:slideViewPr>
    <p:cSldViewPr snapToGrid="0">
      <p:cViewPr varScale="1">
        <p:scale>
          <a:sx n="148" d="100"/>
          <a:sy n="148" d="100"/>
        </p:scale>
        <p:origin x="71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D3A3-438C-C936-67D1-67B720F11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2E464-93A6-25D0-F1C0-716263574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4610F-0622-FC6A-0DB3-DDC3CAD6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2F94C-9C3C-FE7E-CB6B-494B9BA4209D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842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0121-789C-DFA2-4702-65BC187B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870E8-A8B3-9C54-563E-A23683BBD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AB04A96-2308-F741-292C-A783E6EA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90B9B6-8F56-F42F-F828-BE7E5DE92262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55230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44361-5738-457B-1F9F-B9D72A3A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C0C6E-8478-B8BC-0D58-D3079E8D3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2576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DCC79C4-45B2-8FA7-14B0-E6E2C40C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B3DE9-B96F-3293-A89F-34C44B7AC9DA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2094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9194-C4AD-2779-EB64-F50DB4A1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61FA8-24D6-2A18-8F5D-F445A6F84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71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68882-01B4-FF9D-C694-2AE3704BA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71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B03D38-17DF-D93D-72D5-92DDC9AE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59F96-933A-933B-5962-7BE680CFA5E7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9473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B048-F193-8E85-1D7E-36F47F94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D54AB-6B3F-0A4B-C26A-E57ABAC6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F8B54-6FBE-936C-8556-C45BB0419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75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EDE43-58E6-C70D-5CA2-19C92F057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24D93-7559-117E-0C16-216E59A6F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75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8783311-DB0D-9662-13AF-ED55DCE7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CB803-5373-4377-7F96-0AABC3893EB7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9281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78E8-7282-983D-D137-03EDE432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0137B12-8189-1F54-498D-C19712B7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F1B12-02A4-5F5D-8369-7AB9A722B810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6820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4FC769A-DAF3-D354-8A6E-34C2E2A2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F94D9C-2F49-D479-9F75-C52F078B8B7E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6812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201C-51F4-F65C-60DE-0D0E559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F9D6-D7F8-0371-CF28-3EB82775F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63BD5-ED20-C7E3-673C-DEFDCDD3B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73416"/>
            <a:ext cx="3932237" cy="35955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B8B0F81-3ADC-2F50-284E-510B4988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1B5BD-11FF-CA36-EB57-DC39DCDC9E8D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8388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3346-2C94-02D9-0004-30C8D427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0F88B-3EAD-342C-BC68-906A70582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60BC4-B92B-4891-2088-5C313807A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1472"/>
            <a:ext cx="3932237" cy="363751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7182F7B-0B19-7B81-8838-785B2ED2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F69B1-FF5E-6F5A-355D-91DAC94242D5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14573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C078-E438-4BFA-4C48-1EEC084C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DEF05-4131-D39F-21C4-FE609F70E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ABCAAAD-08D3-CCF0-758A-4D5E545E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0E6FF-D6A3-AE47-22AA-A8C0D428FEE8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259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B0819-B110-F0BF-7EF0-E3E54EEDA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549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8735A-E9B1-7FC9-237B-20BC7EFC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54911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18541BA-289F-D42A-F5F0-EA97661A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396F1-DEFF-ECF0-E013-EF948793B8C1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1999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A58F0-9BC3-AA6D-C0A9-566341D6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48E01-589E-E1AE-A303-B6E9AD9AA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8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1C095-DDF6-9109-0938-BE3A25B1F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35A94-27D5-F943-9E22-FF249660658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29051-563A-F4A9-32D1-A6F20D07E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BD30F-380F-C749-FE13-3E189E82C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96C6A-1D41-0F4A-A30D-D15EB165DB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43ED2A-83C2-5676-1A85-8F4B5D0EA109}"/>
              </a:ext>
            </a:extLst>
          </p:cNvPr>
          <p:cNvSpPr/>
          <p:nvPr userDrawn="1"/>
        </p:nvSpPr>
        <p:spPr>
          <a:xfrm>
            <a:off x="0" y="6044825"/>
            <a:ext cx="12192000" cy="813175"/>
          </a:xfrm>
          <a:prstGeom prst="rect">
            <a:avLst/>
          </a:prstGeom>
          <a:solidFill>
            <a:srgbClr val="002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13346F5-600E-F855-62E6-88E278E5652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36550" b="32722"/>
          <a:stretch>
            <a:fillRect/>
          </a:stretch>
        </p:blipFill>
        <p:spPr>
          <a:xfrm>
            <a:off x="4772790" y="6044824"/>
            <a:ext cx="2646420" cy="81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5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3C24-732C-EC73-63D0-A30BD15BC8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 Engineering Development Model</a:t>
            </a:r>
            <a:br>
              <a:rPr lang="en-US" dirty="0"/>
            </a:br>
            <a:r>
              <a:rPr lang="en-US" dirty="0"/>
              <a:t>(CEDM)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E8105-F2C4-4458-BB3F-C72D18273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6891" y="3790882"/>
            <a:ext cx="6278217" cy="165576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 Pragmatic, Risk-Aware Approach to using AI in Software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4074120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F59F8B-8604-7403-E7BC-D9749EBB094B}"/>
              </a:ext>
            </a:extLst>
          </p:cNvPr>
          <p:cNvSpPr/>
          <p:nvPr/>
        </p:nvSpPr>
        <p:spPr>
          <a:xfrm>
            <a:off x="828333" y="3429000"/>
            <a:ext cx="10407316" cy="21294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B2DA6E-3988-7811-F681-1344AFF59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06400"/>
            <a:ext cx="9144000" cy="2089912"/>
          </a:xfrm>
        </p:spPr>
        <p:txBody>
          <a:bodyPr/>
          <a:lstStyle/>
          <a:p>
            <a:r>
              <a:rPr lang="en-US" dirty="0"/>
              <a:t>Context Engineering Development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C4B9D-9732-430F-899C-A9E8CD6D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991" y="2549517"/>
            <a:ext cx="9144000" cy="488963"/>
          </a:xfrm>
        </p:spPr>
        <p:txBody>
          <a:bodyPr/>
          <a:lstStyle/>
          <a:p>
            <a:r>
              <a:rPr lang="en-US" dirty="0"/>
              <a:t>Timothy McCrimmon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35C92-43BD-B418-86A6-C734F2F64B1C}"/>
              </a:ext>
            </a:extLst>
          </p:cNvPr>
          <p:cNvSpPr txBox="1"/>
          <p:nvPr/>
        </p:nvSpPr>
        <p:spPr>
          <a:xfrm>
            <a:off x="1185269" y="3563458"/>
            <a:ext cx="969745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# Intellectual Property Notice</a:t>
            </a:r>
          </a:p>
          <a:p>
            <a:r>
              <a:rPr lang="en-US" sz="1100" dirty="0"/>
              <a:t>© 2025 Timothy McCrimmon. All rights reserved. </a:t>
            </a:r>
          </a:p>
          <a:p>
            <a:endParaRPr lang="en-US" sz="1100" dirty="0"/>
          </a:p>
          <a:p>
            <a:r>
              <a:rPr lang="en-US" sz="1100" b="1" dirty="0"/>
              <a:t>Context Engineering Development Model™</a:t>
            </a:r>
            <a:r>
              <a:rPr lang="en-US" sz="1100" dirty="0"/>
              <a:t> (CEDM) is an original methodology developed by Timothy McCrimmon. </a:t>
            </a:r>
          </a:p>
          <a:p>
            <a:endParaRPr lang="en-US" sz="1100" dirty="0"/>
          </a:p>
          <a:p>
            <a:r>
              <a:rPr lang="en-US" sz="1100" dirty="0"/>
              <a:t>This work, including all written materials, diagrams, and related documentation, is protected under copyright law. </a:t>
            </a:r>
          </a:p>
          <a:p>
            <a:r>
              <a:rPr lang="en-US" sz="1100" dirty="0"/>
              <a:t>Permission is granted to reference or quote small portions of this work for educational or research purposes, provided that proper attribution is given. </a:t>
            </a:r>
          </a:p>
          <a:p>
            <a:endParaRPr lang="en-US" sz="1100" dirty="0"/>
          </a:p>
          <a:p>
            <a:r>
              <a:rPr lang="en-US" sz="1100" dirty="0"/>
              <a:t>No part of this work may be reproduced, distributed, or used commercially without prior written consent of the author. </a:t>
            </a:r>
          </a:p>
          <a:p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2037856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6103-3B35-54B2-CC22-E762CA20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Outline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550E74-C3CE-C06F-7A5C-DEC8CA9F0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4702948"/>
              </p:ext>
            </p:extLst>
          </p:nvPr>
        </p:nvGraphicFramePr>
        <p:xfrm>
          <a:off x="838200" y="1825625"/>
          <a:ext cx="10515600" cy="359457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584171">
                  <a:extLst>
                    <a:ext uri="{9D8B030D-6E8A-4147-A177-3AD203B41FA5}">
                      <a16:colId xmlns:a16="http://schemas.microsoft.com/office/drawing/2014/main" val="4278496903"/>
                    </a:ext>
                  </a:extLst>
                </a:gridCol>
                <a:gridCol w="6931429">
                  <a:extLst>
                    <a:ext uri="{9D8B030D-6E8A-4147-A177-3AD203B41FA5}">
                      <a16:colId xmlns:a16="http://schemas.microsoft.com/office/drawing/2014/main" val="2483449786"/>
                    </a:ext>
                  </a:extLst>
                </a:gridCol>
              </a:tblGrid>
              <a:tr h="501939">
                <a:tc>
                  <a:txBody>
                    <a:bodyPr/>
                    <a:lstStyle/>
                    <a:p>
                      <a:r>
                        <a:rPr lang="en-US" dirty="0"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542863"/>
                  </a:ext>
                </a:extLst>
              </a:tr>
              <a:tr h="1061359">
                <a:tc>
                  <a:txBody>
                    <a:bodyPr/>
                    <a:lstStyle/>
                    <a:p>
                      <a:r>
                        <a:rPr lang="en-US" sz="1400" dirty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Using AI in the software development process carries risks and requires changes in the development model. 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Introducing CEDM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173179"/>
                  </a:ext>
                </a:extLst>
              </a:tr>
              <a:tr h="1130632">
                <a:tc>
                  <a:txBody>
                    <a:bodyPr/>
                    <a:lstStyle/>
                    <a:p>
                      <a:r>
                        <a:rPr lang="en-US" sz="1400" dirty="0"/>
                        <a:t>Concept Deep Dives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Structured Context</a:t>
                      </a:r>
                      <a:r>
                        <a:rPr lang="en-US" sz="1400" baseline="30000" dirty="0"/>
                        <a:t>©️</a:t>
                      </a: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Teams (XP.AI)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Contracts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AI Driven Governance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750545"/>
                  </a:ext>
                </a:extLst>
              </a:tr>
              <a:tr h="900647">
                <a:tc>
                  <a:txBody>
                    <a:bodyPr/>
                    <a:lstStyle/>
                    <a:p>
                      <a:r>
                        <a:rPr lang="en-US" sz="1400" dirty="0"/>
                        <a:t>Case Study (reference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Example of the process, deliverables, context management, teams, governance and reporting.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042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59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BAC7-3735-86D2-2C82-D831365A5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7A3A1-8B3D-4E9B-06A0-5A20DB8DD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Attractiveness and issues associated with using AI in your SDLC</a:t>
            </a:r>
          </a:p>
        </p:txBody>
      </p:sp>
    </p:spTree>
    <p:extLst>
      <p:ext uri="{BB962C8B-B14F-4D97-AF65-F5344CB8AC3E}">
        <p14:creationId xmlns:p14="http://schemas.microsoft.com/office/powerpoint/2010/main" val="37691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DCB3601-0A12-A174-E9E2-A8944E058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2065" y="1786398"/>
            <a:ext cx="3932237" cy="3595571"/>
          </a:xfrm>
        </p:spPr>
        <p:txBody>
          <a:bodyPr/>
          <a:lstStyle/>
          <a:p>
            <a:r>
              <a:rPr lang="en-US" dirty="0"/>
              <a:t>Anyone can build applications</a:t>
            </a:r>
          </a:p>
          <a:p>
            <a:r>
              <a:rPr lang="en-US" dirty="0"/>
              <a:t>All software will be written by AI</a:t>
            </a:r>
          </a:p>
          <a:p>
            <a:r>
              <a:rPr lang="en-US" dirty="0"/>
              <a:t>We don’t need expensive developers</a:t>
            </a:r>
          </a:p>
          <a:p>
            <a:r>
              <a:rPr lang="en-US" dirty="0"/>
              <a:t>Gen-AI writes perfect code</a:t>
            </a:r>
          </a:p>
          <a:p>
            <a:r>
              <a:rPr lang="en-US" dirty="0"/>
              <a:t>Vibe Coding is the future!!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0EA219-A183-7278-454A-6623F2B2A277}"/>
              </a:ext>
            </a:extLst>
          </p:cNvPr>
          <p:cNvSpPr txBox="1">
            <a:spLocks/>
          </p:cNvSpPr>
          <p:nvPr/>
        </p:nvSpPr>
        <p:spPr>
          <a:xfrm>
            <a:off x="1012066" y="522861"/>
            <a:ext cx="3932237" cy="8978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Mythology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8D2421D-FDC0-475A-A534-FFD8B91EC2A3}"/>
              </a:ext>
            </a:extLst>
          </p:cNvPr>
          <p:cNvSpPr txBox="1">
            <a:spLocks/>
          </p:cNvSpPr>
          <p:nvPr/>
        </p:nvSpPr>
        <p:spPr>
          <a:xfrm>
            <a:off x="6266551" y="1786397"/>
            <a:ext cx="5153510" cy="359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AI is here to stay</a:t>
            </a:r>
          </a:p>
          <a:p>
            <a:r>
              <a:rPr lang="en-US" dirty="0"/>
              <a:t>“Wait and see” will hurt you</a:t>
            </a:r>
          </a:p>
          <a:p>
            <a:r>
              <a:rPr lang="en-US" dirty="0"/>
              <a:t>AI tech (good and bad) moving VERY fast</a:t>
            </a:r>
          </a:p>
          <a:p>
            <a:r>
              <a:rPr lang="en-US" dirty="0"/>
              <a:t>Scenarios:</a:t>
            </a:r>
          </a:p>
          <a:p>
            <a:pPr marL="285750" indent="-285750">
              <a:buFontTx/>
              <a:buChar char="-"/>
            </a:pPr>
            <a:r>
              <a:rPr lang="en-US" dirty="0"/>
              <a:t>Build software using AI</a:t>
            </a:r>
          </a:p>
          <a:p>
            <a:pPr marL="285750" indent="-285750">
              <a:buFontTx/>
              <a:buChar char="-"/>
            </a:pPr>
            <a:r>
              <a:rPr lang="en-US" dirty="0"/>
              <a:t>Build applications that leverage AI</a:t>
            </a:r>
          </a:p>
          <a:p>
            <a:pPr marL="285750" indent="-285750">
              <a:buFontTx/>
              <a:buChar char="-"/>
            </a:pPr>
            <a:r>
              <a:rPr lang="en-US" dirty="0"/>
              <a:t>Both are RISKY</a:t>
            </a:r>
          </a:p>
          <a:p>
            <a:pPr marL="285750" indent="-285750">
              <a:buFontTx/>
              <a:buChar char="-"/>
            </a:pPr>
            <a:r>
              <a:rPr lang="en-US" dirty="0"/>
              <a:t>Both require SKILL</a:t>
            </a:r>
          </a:p>
          <a:p>
            <a:pPr marL="285750" indent="-285750">
              <a:buFontTx/>
              <a:buChar char="-"/>
            </a:pPr>
            <a:r>
              <a:rPr lang="en-US" dirty="0"/>
              <a:t>Both require a PLAN</a:t>
            </a:r>
          </a:p>
          <a:p>
            <a:pPr marL="285750" indent="-285750">
              <a:buFontTx/>
              <a:buChar char="-"/>
            </a:pPr>
            <a:r>
              <a:rPr lang="en-US" dirty="0"/>
              <a:t>Getting it wrong could prove fatal to your biz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E411CF-9834-695A-47B1-B1371650BA06}"/>
              </a:ext>
            </a:extLst>
          </p:cNvPr>
          <p:cNvSpPr txBox="1">
            <a:spLocks/>
          </p:cNvSpPr>
          <p:nvPr/>
        </p:nvSpPr>
        <p:spPr>
          <a:xfrm>
            <a:off x="6266552" y="522862"/>
            <a:ext cx="3932237" cy="8978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Reality</a:t>
            </a:r>
          </a:p>
        </p:txBody>
      </p:sp>
    </p:spTree>
    <p:extLst>
      <p:ext uri="{BB962C8B-B14F-4D97-AF65-F5344CB8AC3E}">
        <p14:creationId xmlns:p14="http://schemas.microsoft.com/office/powerpoint/2010/main" val="986147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lock Arc 16">
            <a:extLst>
              <a:ext uri="{FF2B5EF4-FFF2-40B4-BE49-F238E27FC236}">
                <a16:creationId xmlns:a16="http://schemas.microsoft.com/office/drawing/2014/main" id="{7BDF864F-0571-0567-6ADC-631D9661BDBD}"/>
              </a:ext>
            </a:extLst>
          </p:cNvPr>
          <p:cNvSpPr/>
          <p:nvPr/>
        </p:nvSpPr>
        <p:spPr>
          <a:xfrm>
            <a:off x="9369415" y="2273416"/>
            <a:ext cx="2046266" cy="2104134"/>
          </a:xfrm>
          <a:prstGeom prst="blockArc">
            <a:avLst>
              <a:gd name="adj1" fmla="val 16200000"/>
              <a:gd name="adj2" fmla="val 1800000"/>
              <a:gd name="adj3" fmla="val 463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BA239-15AA-AEB7-E350-B4A11CFE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Development Teams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6C12A-E6D9-B04D-A321-E827B4669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Types:</a:t>
            </a:r>
          </a:p>
          <a:p>
            <a:endParaRPr lang="en-US" dirty="0"/>
          </a:p>
          <a:p>
            <a:r>
              <a:rPr lang="en-US" dirty="0"/>
              <a:t>Product: </a:t>
            </a:r>
          </a:p>
          <a:p>
            <a:pPr marL="285750" indent="-285750">
              <a:buFontTx/>
              <a:buChar char="-"/>
            </a:pPr>
            <a:r>
              <a:rPr lang="en-US" dirty="0"/>
              <a:t>Offering for Sale to a market</a:t>
            </a:r>
          </a:p>
          <a:p>
            <a:pPr marL="285750" indent="-285750">
              <a:buFontTx/>
              <a:buChar char="-"/>
            </a:pPr>
            <a:r>
              <a:rPr lang="en-US" dirty="0"/>
              <a:t>Build what customers NEED</a:t>
            </a:r>
          </a:p>
          <a:p>
            <a:endParaRPr lang="en-US" dirty="0"/>
          </a:p>
          <a:p>
            <a:r>
              <a:rPr lang="en-US" dirty="0"/>
              <a:t>Services: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Software built as specified by a contract</a:t>
            </a:r>
          </a:p>
          <a:p>
            <a:pPr marL="285750" indent="-285750">
              <a:buFontTx/>
              <a:buChar char="-"/>
            </a:pPr>
            <a:r>
              <a:rPr lang="en-US" dirty="0"/>
              <a:t>Build what customers WANT</a:t>
            </a:r>
          </a:p>
          <a:p>
            <a:endParaRPr lang="en-US" dirty="0"/>
          </a:p>
          <a:p>
            <a:r>
              <a:rPr lang="en-US" dirty="0"/>
              <a:t>Maintenance:</a:t>
            </a:r>
          </a:p>
          <a:p>
            <a:pPr marL="285750" indent="-285750">
              <a:buFontTx/>
              <a:buChar char="-"/>
            </a:pPr>
            <a:r>
              <a:rPr lang="en-US" dirty="0"/>
              <a:t>Maintain existing systems and solutions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Enhance/Maintain what customers HAVE</a:t>
            </a:r>
          </a:p>
          <a:p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0D3356E-6CF3-AA18-505E-9FCCE1A1A60B}"/>
              </a:ext>
            </a:extLst>
          </p:cNvPr>
          <p:cNvSpPr/>
          <p:nvPr/>
        </p:nvSpPr>
        <p:spPr>
          <a:xfrm>
            <a:off x="5395825" y="1738103"/>
            <a:ext cx="2740590" cy="575190"/>
          </a:xfrm>
          <a:custGeom>
            <a:avLst/>
            <a:gdLst>
              <a:gd name="connsiteX0" fmla="*/ 0 w 2863532"/>
              <a:gd name="connsiteY0" fmla="*/ 575188 h 575188"/>
              <a:gd name="connsiteX1" fmla="*/ 477256 w 2863532"/>
              <a:gd name="connsiteY1" fmla="*/ 0 h 575188"/>
              <a:gd name="connsiteX2" fmla="*/ 2386276 w 2863532"/>
              <a:gd name="connsiteY2" fmla="*/ 0 h 575188"/>
              <a:gd name="connsiteX3" fmla="*/ 2863532 w 2863532"/>
              <a:gd name="connsiteY3" fmla="*/ 575188 h 575188"/>
              <a:gd name="connsiteX4" fmla="*/ 0 w 2863532"/>
              <a:gd name="connsiteY4" fmla="*/ 575188 h 575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532" h="575188">
                <a:moveTo>
                  <a:pt x="2863532" y="1"/>
                </a:moveTo>
                <a:lnTo>
                  <a:pt x="2386276" y="575187"/>
                </a:lnTo>
                <a:lnTo>
                  <a:pt x="477256" y="575187"/>
                </a:lnTo>
                <a:lnTo>
                  <a:pt x="0" y="1"/>
                </a:lnTo>
                <a:lnTo>
                  <a:pt x="2863532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5088" tIns="13971" rIns="515089" bIns="13971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100" kern="1200" dirty="0">
                <a:solidFill>
                  <a:schemeClr val="bg1"/>
                </a:solidFill>
              </a:rPr>
              <a:t>Stakeholders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E23FCEC-42D3-F541-A040-B7F8B3F4B984}"/>
              </a:ext>
            </a:extLst>
          </p:cNvPr>
          <p:cNvSpPr/>
          <p:nvPr/>
        </p:nvSpPr>
        <p:spPr>
          <a:xfrm>
            <a:off x="5832100" y="2313291"/>
            <a:ext cx="1827060" cy="575189"/>
          </a:xfrm>
          <a:custGeom>
            <a:avLst/>
            <a:gdLst>
              <a:gd name="connsiteX0" fmla="*/ 0 w 1909021"/>
              <a:gd name="connsiteY0" fmla="*/ 575188 h 575188"/>
              <a:gd name="connsiteX1" fmla="*/ 477256 w 1909021"/>
              <a:gd name="connsiteY1" fmla="*/ 0 h 575188"/>
              <a:gd name="connsiteX2" fmla="*/ 1431765 w 1909021"/>
              <a:gd name="connsiteY2" fmla="*/ 0 h 575188"/>
              <a:gd name="connsiteX3" fmla="*/ 1909021 w 1909021"/>
              <a:gd name="connsiteY3" fmla="*/ 575188 h 575188"/>
              <a:gd name="connsiteX4" fmla="*/ 0 w 1909021"/>
              <a:gd name="connsiteY4" fmla="*/ 575188 h 575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9021" h="575188">
                <a:moveTo>
                  <a:pt x="1909021" y="1"/>
                </a:moveTo>
                <a:lnTo>
                  <a:pt x="1431765" y="575187"/>
                </a:lnTo>
                <a:lnTo>
                  <a:pt x="477256" y="575187"/>
                </a:lnTo>
                <a:lnTo>
                  <a:pt x="0" y="1"/>
                </a:lnTo>
                <a:lnTo>
                  <a:pt x="1909021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8049" tIns="13971" rIns="348049" bIns="13970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100" kern="1200" dirty="0">
                <a:solidFill>
                  <a:schemeClr val="bg1"/>
                </a:solidFill>
              </a:rPr>
              <a:t>Managers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0BE60D-AAED-F9E5-DAD5-38630CD2C876}"/>
              </a:ext>
            </a:extLst>
          </p:cNvPr>
          <p:cNvSpPr/>
          <p:nvPr/>
        </p:nvSpPr>
        <p:spPr>
          <a:xfrm>
            <a:off x="6321888" y="3811589"/>
            <a:ext cx="906449" cy="5408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Developers</a:t>
            </a:r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8CB303A5-0F57-9D2A-6C18-17494C777137}"/>
              </a:ext>
            </a:extLst>
          </p:cNvPr>
          <p:cNvSpPr/>
          <p:nvPr/>
        </p:nvSpPr>
        <p:spPr>
          <a:xfrm>
            <a:off x="9369415" y="2273416"/>
            <a:ext cx="2046266" cy="2104134"/>
          </a:xfrm>
          <a:prstGeom prst="blockArc">
            <a:avLst>
              <a:gd name="adj1" fmla="val 9000000"/>
              <a:gd name="adj2" fmla="val 16200000"/>
              <a:gd name="adj3" fmla="val 463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Block Arc 15">
            <a:extLst>
              <a:ext uri="{FF2B5EF4-FFF2-40B4-BE49-F238E27FC236}">
                <a16:creationId xmlns:a16="http://schemas.microsoft.com/office/drawing/2014/main" id="{4DFBE84A-E2ED-2D7A-4FD7-ECE827409250}"/>
              </a:ext>
            </a:extLst>
          </p:cNvPr>
          <p:cNvSpPr/>
          <p:nvPr/>
        </p:nvSpPr>
        <p:spPr>
          <a:xfrm>
            <a:off x="9369415" y="2273416"/>
            <a:ext cx="2046266" cy="2104134"/>
          </a:xfrm>
          <a:prstGeom prst="blockArc">
            <a:avLst>
              <a:gd name="adj1" fmla="val 636950"/>
              <a:gd name="adj2" fmla="val 9000000"/>
              <a:gd name="adj3" fmla="val 463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75121D71-62A4-9529-3492-1D4DD9E8AE8E}"/>
              </a:ext>
            </a:extLst>
          </p:cNvPr>
          <p:cNvSpPr/>
          <p:nvPr/>
        </p:nvSpPr>
        <p:spPr>
          <a:xfrm>
            <a:off x="9369415" y="2205285"/>
            <a:ext cx="1305192" cy="470314"/>
          </a:xfrm>
          <a:custGeom>
            <a:avLst/>
            <a:gdLst>
              <a:gd name="connsiteX0" fmla="*/ 0 w 1176793"/>
              <a:gd name="connsiteY0" fmla="*/ 255929 h 511858"/>
              <a:gd name="connsiteX1" fmla="*/ 588397 w 1176793"/>
              <a:gd name="connsiteY1" fmla="*/ 0 h 511858"/>
              <a:gd name="connsiteX2" fmla="*/ 1176794 w 1176793"/>
              <a:gd name="connsiteY2" fmla="*/ 255929 h 511858"/>
              <a:gd name="connsiteX3" fmla="*/ 588397 w 1176793"/>
              <a:gd name="connsiteY3" fmla="*/ 511858 h 511858"/>
              <a:gd name="connsiteX4" fmla="*/ 0 w 1176793"/>
              <a:gd name="connsiteY4" fmla="*/ 255929 h 51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6793" h="511858">
                <a:moveTo>
                  <a:pt x="0" y="255929"/>
                </a:moveTo>
                <a:cubicBezTo>
                  <a:pt x="0" y="114583"/>
                  <a:pt x="263434" y="0"/>
                  <a:pt x="588397" y="0"/>
                </a:cubicBezTo>
                <a:cubicBezTo>
                  <a:pt x="913360" y="0"/>
                  <a:pt x="1176794" y="114583"/>
                  <a:pt x="1176794" y="255929"/>
                </a:cubicBezTo>
                <a:cubicBezTo>
                  <a:pt x="1176794" y="397275"/>
                  <a:pt x="913360" y="511858"/>
                  <a:pt x="588397" y="511858"/>
                </a:cubicBezTo>
                <a:cubicBezTo>
                  <a:pt x="263434" y="511858"/>
                  <a:pt x="0" y="397275"/>
                  <a:pt x="0" y="255929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2497" tIns="85120" rIns="182497" bIns="8512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b="1" kern="1200" dirty="0"/>
              <a:t>Stakeholders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B8D9F41E-2F0E-AE84-888A-A221F868556F}"/>
              </a:ext>
            </a:extLst>
          </p:cNvPr>
          <p:cNvSpPr/>
          <p:nvPr/>
        </p:nvSpPr>
        <p:spPr>
          <a:xfrm>
            <a:off x="10522412" y="3073437"/>
            <a:ext cx="1305192" cy="470314"/>
          </a:xfrm>
          <a:custGeom>
            <a:avLst/>
            <a:gdLst>
              <a:gd name="connsiteX0" fmla="*/ 0 w 1176793"/>
              <a:gd name="connsiteY0" fmla="*/ 255929 h 511858"/>
              <a:gd name="connsiteX1" fmla="*/ 588397 w 1176793"/>
              <a:gd name="connsiteY1" fmla="*/ 0 h 511858"/>
              <a:gd name="connsiteX2" fmla="*/ 1176794 w 1176793"/>
              <a:gd name="connsiteY2" fmla="*/ 255929 h 511858"/>
              <a:gd name="connsiteX3" fmla="*/ 588397 w 1176793"/>
              <a:gd name="connsiteY3" fmla="*/ 511858 h 511858"/>
              <a:gd name="connsiteX4" fmla="*/ 0 w 1176793"/>
              <a:gd name="connsiteY4" fmla="*/ 255929 h 51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6793" h="511858">
                <a:moveTo>
                  <a:pt x="0" y="255929"/>
                </a:moveTo>
                <a:cubicBezTo>
                  <a:pt x="0" y="114583"/>
                  <a:pt x="263434" y="0"/>
                  <a:pt x="588397" y="0"/>
                </a:cubicBezTo>
                <a:cubicBezTo>
                  <a:pt x="913360" y="0"/>
                  <a:pt x="1176794" y="114583"/>
                  <a:pt x="1176794" y="255929"/>
                </a:cubicBezTo>
                <a:cubicBezTo>
                  <a:pt x="1176794" y="397275"/>
                  <a:pt x="913360" y="511858"/>
                  <a:pt x="588397" y="511858"/>
                </a:cubicBezTo>
                <a:cubicBezTo>
                  <a:pt x="263434" y="511858"/>
                  <a:pt x="0" y="397275"/>
                  <a:pt x="0" y="255929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2497" tIns="85120" rIns="182497" bIns="8512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b="1" kern="1200" dirty="0"/>
              <a:t>AI Assistants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BCC61222-5685-416D-6951-4FE7D8446BC2}"/>
              </a:ext>
            </a:extLst>
          </p:cNvPr>
          <p:cNvSpPr/>
          <p:nvPr/>
        </p:nvSpPr>
        <p:spPr>
          <a:xfrm>
            <a:off x="8983619" y="3564796"/>
            <a:ext cx="1305192" cy="470314"/>
          </a:xfrm>
          <a:custGeom>
            <a:avLst/>
            <a:gdLst>
              <a:gd name="connsiteX0" fmla="*/ 0 w 1176793"/>
              <a:gd name="connsiteY0" fmla="*/ 255929 h 511858"/>
              <a:gd name="connsiteX1" fmla="*/ 588397 w 1176793"/>
              <a:gd name="connsiteY1" fmla="*/ 0 h 511858"/>
              <a:gd name="connsiteX2" fmla="*/ 1176794 w 1176793"/>
              <a:gd name="connsiteY2" fmla="*/ 255929 h 511858"/>
              <a:gd name="connsiteX3" fmla="*/ 588397 w 1176793"/>
              <a:gd name="connsiteY3" fmla="*/ 511858 h 511858"/>
              <a:gd name="connsiteX4" fmla="*/ 0 w 1176793"/>
              <a:gd name="connsiteY4" fmla="*/ 255929 h 51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6793" h="511858">
                <a:moveTo>
                  <a:pt x="0" y="255929"/>
                </a:moveTo>
                <a:cubicBezTo>
                  <a:pt x="0" y="114583"/>
                  <a:pt x="263434" y="0"/>
                  <a:pt x="588397" y="0"/>
                </a:cubicBezTo>
                <a:cubicBezTo>
                  <a:pt x="913360" y="0"/>
                  <a:pt x="1176794" y="114583"/>
                  <a:pt x="1176794" y="255929"/>
                </a:cubicBezTo>
                <a:cubicBezTo>
                  <a:pt x="1176794" y="397275"/>
                  <a:pt x="913360" y="511858"/>
                  <a:pt x="588397" y="511858"/>
                </a:cubicBezTo>
                <a:cubicBezTo>
                  <a:pt x="263434" y="511858"/>
                  <a:pt x="0" y="397275"/>
                  <a:pt x="0" y="255929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2497" tIns="85120" rIns="182497" bIns="8512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b="1" kern="1200" dirty="0"/>
              <a:t>Developers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8A5A0361-C1BA-2B4B-A19A-52737A792206}"/>
              </a:ext>
            </a:extLst>
          </p:cNvPr>
          <p:cNvSpPr/>
          <p:nvPr/>
        </p:nvSpPr>
        <p:spPr>
          <a:xfrm>
            <a:off x="8187114" y="3167154"/>
            <a:ext cx="654126" cy="5491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BDD1183-716C-78E3-6917-36BFEA953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0275" y="3335307"/>
            <a:ext cx="249675" cy="24967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B839E3-5F54-B30F-5074-E18737E087F6}"/>
              </a:ext>
            </a:extLst>
          </p:cNvPr>
          <p:cNvCxnSpPr/>
          <p:nvPr/>
        </p:nvCxnSpPr>
        <p:spPr>
          <a:xfrm>
            <a:off x="6719946" y="3024691"/>
            <a:ext cx="0" cy="200297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53FB63-FA11-F8E5-BB4C-89AF4ECB1825}"/>
              </a:ext>
            </a:extLst>
          </p:cNvPr>
          <p:cNvCxnSpPr/>
          <p:nvPr/>
        </p:nvCxnSpPr>
        <p:spPr>
          <a:xfrm>
            <a:off x="6771547" y="3105670"/>
            <a:ext cx="0" cy="200297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311BB4-DC5F-EEB3-F679-43A30EE5885C}"/>
              </a:ext>
            </a:extLst>
          </p:cNvPr>
          <p:cNvCxnSpPr/>
          <p:nvPr/>
        </p:nvCxnSpPr>
        <p:spPr>
          <a:xfrm>
            <a:off x="6820238" y="3026605"/>
            <a:ext cx="0" cy="200297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E7313F-A59D-82CC-26A8-D34E900510BA}"/>
              </a:ext>
            </a:extLst>
          </p:cNvPr>
          <p:cNvSpPr txBox="1"/>
          <p:nvPr/>
        </p:nvSpPr>
        <p:spPr>
          <a:xfrm>
            <a:off x="7797150" y="2413451"/>
            <a:ext cx="13051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AI Forces a change in the game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CAA4CA02-9620-595F-D492-52A7D1418E98}"/>
              </a:ext>
            </a:extLst>
          </p:cNvPr>
          <p:cNvSpPr/>
          <p:nvPr/>
        </p:nvSpPr>
        <p:spPr>
          <a:xfrm>
            <a:off x="5134571" y="1736394"/>
            <a:ext cx="148866" cy="197992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4A376FC4-283D-01C7-4413-8521544E8B2C}"/>
              </a:ext>
            </a:extLst>
          </p:cNvPr>
          <p:cNvSpPr/>
          <p:nvPr/>
        </p:nvSpPr>
        <p:spPr>
          <a:xfrm>
            <a:off x="5139960" y="3771650"/>
            <a:ext cx="143477" cy="58076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B05B45-7B35-F031-DC63-FBD2E4C77D00}"/>
              </a:ext>
            </a:extLst>
          </p:cNvPr>
          <p:cNvSpPr txBox="1"/>
          <p:nvPr/>
        </p:nvSpPr>
        <p:spPr>
          <a:xfrm rot="16200000">
            <a:off x="4552880" y="2587858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Waterfall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B4473-EE1B-26EA-6371-467265BEF0B8}"/>
              </a:ext>
            </a:extLst>
          </p:cNvPr>
          <p:cNvSpPr txBox="1"/>
          <p:nvPr/>
        </p:nvSpPr>
        <p:spPr>
          <a:xfrm rot="16200000">
            <a:off x="4670858" y="3943500"/>
            <a:ext cx="562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471998-07B1-526D-9D25-E699DD33571F}"/>
              </a:ext>
            </a:extLst>
          </p:cNvPr>
          <p:cNvSpPr txBox="1"/>
          <p:nvPr/>
        </p:nvSpPr>
        <p:spPr>
          <a:xfrm>
            <a:off x="5768067" y="3257071"/>
            <a:ext cx="81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(holy hand grenade)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FFE427-ECA6-6929-D7AA-E8D52AAB86A0}"/>
              </a:ext>
            </a:extLst>
          </p:cNvPr>
          <p:cNvSpPr txBox="1"/>
          <p:nvPr/>
        </p:nvSpPr>
        <p:spPr>
          <a:xfrm>
            <a:off x="9903559" y="3046792"/>
            <a:ext cx="562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Agile</a:t>
            </a:r>
          </a:p>
        </p:txBody>
      </p:sp>
    </p:spTree>
    <p:extLst>
      <p:ext uri="{BB962C8B-B14F-4D97-AF65-F5344CB8AC3E}">
        <p14:creationId xmlns:p14="http://schemas.microsoft.com/office/powerpoint/2010/main" val="3875943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8246-7714-011C-78C3-2339DC0D1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forcing the change?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B0901-793D-29AE-2964-4737494A2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AI makes you faster but introduces new risks.</a:t>
            </a:r>
          </a:p>
          <a:p>
            <a:endParaRPr lang="en-US" dirty="0"/>
          </a:p>
          <a:p>
            <a:r>
              <a:rPr lang="en-US" dirty="0"/>
              <a:t>You need protection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Indemnification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Intellectual Property Protection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Provenance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Copyright</a:t>
            </a:r>
          </a:p>
          <a:p>
            <a:pPr marL="285750" indent="-285750">
              <a:buFontTx/>
              <a:buChar char="-"/>
            </a:pPr>
            <a:r>
              <a:rPr lang="en-US" dirty="0"/>
              <a:t>More</a:t>
            </a:r>
          </a:p>
          <a:p>
            <a:endParaRPr lang="en-US" dirty="0"/>
          </a:p>
        </p:txBody>
      </p:sp>
      <p:pic>
        <p:nvPicPr>
          <p:cNvPr id="6" name="Picture 5" descr="A graph showing a loss of data&#10;&#10;AI-generated content may be incorrect.">
            <a:extLst>
              <a:ext uri="{FF2B5EF4-FFF2-40B4-BE49-F238E27FC236}">
                <a16:creationId xmlns:a16="http://schemas.microsoft.com/office/drawing/2014/main" id="{407EF003-7515-94B1-0BC9-79BC472C1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57300"/>
            <a:ext cx="5013112" cy="399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63370-8689-34F0-9C6C-91FD44EFC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29923" cy="1049383"/>
          </a:xfrm>
        </p:spPr>
        <p:txBody>
          <a:bodyPr>
            <a:normAutofit/>
          </a:bodyPr>
          <a:lstStyle/>
          <a:p>
            <a:r>
              <a:rPr lang="en-US" dirty="0"/>
              <a:t>Context Engineering</a:t>
            </a:r>
            <a:br>
              <a:rPr lang="en-US" dirty="0"/>
            </a:br>
            <a:r>
              <a:rPr lang="en-US" dirty="0"/>
              <a:t>Lingo Level 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6532C-886F-17E6-F472-AD8432D78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Context Engineering is a shift in how we think about software development itself.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CEDM Context:</a:t>
            </a:r>
          </a:p>
          <a:p>
            <a:r>
              <a:rPr lang="en-US" sz="1400" dirty="0"/>
              <a:t>Context is the single source of truth that ensures alignment, accountability, and continuity across the system.</a:t>
            </a:r>
          </a:p>
          <a:p>
            <a:r>
              <a:rPr lang="en-US" sz="1400" dirty="0"/>
              <a:t>Context is the living framework of data and intent that guides both human and AI decision-making within well-defined boundaries.</a:t>
            </a:r>
          </a:p>
          <a:p>
            <a:r>
              <a:rPr lang="en-US" sz="1400" dirty="0"/>
              <a:t>Context is live, evolving continuously, and maintained as an integral part of the codebase. This is not an option.</a:t>
            </a:r>
          </a:p>
          <a:p>
            <a:r>
              <a:rPr lang="en-US" sz="1400" dirty="0"/>
              <a:t>Context is your code’s metadata</a:t>
            </a:r>
          </a:p>
          <a:p>
            <a:r>
              <a:rPr lang="en-US" sz="1400" dirty="0"/>
              <a:t>Context creates opportunity for project automation (change management for example)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0DE5E-7A35-7B8B-7903-AE7F27EE2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7840"/>
            <a:ext cx="3932237" cy="409321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Training: </a:t>
            </a:r>
          </a:p>
          <a:p>
            <a:r>
              <a:rPr lang="en-US" dirty="0"/>
              <a:t>- Make an LLM Smarter</a:t>
            </a:r>
          </a:p>
          <a:p>
            <a:endParaRPr lang="en-US" dirty="0"/>
          </a:p>
          <a:p>
            <a:r>
              <a:rPr lang="en-US" dirty="0"/>
              <a:t>Prompt: </a:t>
            </a:r>
          </a:p>
          <a:p>
            <a:r>
              <a:rPr lang="en-US" dirty="0"/>
              <a:t>- Ask an LLM a question</a:t>
            </a:r>
          </a:p>
          <a:p>
            <a:endParaRPr lang="en-US" dirty="0"/>
          </a:p>
          <a:p>
            <a:r>
              <a:rPr lang="en-US" dirty="0"/>
              <a:t>Prompt Engineering: </a:t>
            </a:r>
          </a:p>
          <a:p>
            <a:r>
              <a:rPr lang="en-US" dirty="0"/>
              <a:t>- Misnomer (IMHO)</a:t>
            </a:r>
          </a:p>
          <a:p>
            <a:endParaRPr lang="en-US" dirty="0"/>
          </a:p>
          <a:p>
            <a:r>
              <a:rPr lang="en-US" dirty="0"/>
              <a:t>Context: </a:t>
            </a:r>
          </a:p>
          <a:p>
            <a:r>
              <a:rPr lang="en-US" dirty="0"/>
              <a:t>- Supporting information for a series of prompts</a:t>
            </a:r>
          </a:p>
          <a:p>
            <a:endParaRPr lang="en-US" dirty="0"/>
          </a:p>
          <a:p>
            <a:r>
              <a:rPr lang="en-US" dirty="0"/>
              <a:t>Context Engineering: (per CEDM)</a:t>
            </a:r>
          </a:p>
          <a:p>
            <a:pPr>
              <a:lnSpc>
                <a:spcPct val="120000"/>
              </a:lnSpc>
            </a:pPr>
            <a:r>
              <a:rPr lang="en-US" dirty="0"/>
              <a:t>- The practice of structuring and managing information that AI systems use to reason and respond</a:t>
            </a:r>
          </a:p>
        </p:txBody>
      </p:sp>
    </p:spTree>
    <p:extLst>
      <p:ext uri="{BB962C8B-B14F-4D97-AF65-F5344CB8AC3E}">
        <p14:creationId xmlns:p14="http://schemas.microsoft.com/office/powerpoint/2010/main" val="1658638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1F32E-7376-37AE-1BC3-0B7C31B0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C7F3C8C-936F-C6F2-6B37-5EA15A3557BF}"/>
              </a:ext>
            </a:extLst>
          </p:cNvPr>
          <p:cNvSpPr txBox="1">
            <a:spLocks/>
          </p:cNvSpPr>
          <p:nvPr/>
        </p:nvSpPr>
        <p:spPr>
          <a:xfrm>
            <a:off x="712694" y="243551"/>
            <a:ext cx="10515600" cy="769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Structured Context is the Source of Truth</a:t>
            </a:r>
          </a:p>
        </p:txBody>
      </p:sp>
      <p:sp>
        <p:nvSpPr>
          <p:cNvPr id="15" name="Snip Single Corner Rectangle 14">
            <a:extLst>
              <a:ext uri="{FF2B5EF4-FFF2-40B4-BE49-F238E27FC236}">
                <a16:creationId xmlns:a16="http://schemas.microsoft.com/office/drawing/2014/main" id="{5D60E520-2664-DC40-A5C6-D209707AC97D}"/>
              </a:ext>
            </a:extLst>
          </p:cNvPr>
          <p:cNvSpPr/>
          <p:nvPr/>
        </p:nvSpPr>
        <p:spPr>
          <a:xfrm>
            <a:off x="5481918" y="2637865"/>
            <a:ext cx="1389529" cy="1313329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Structured</a:t>
            </a:r>
          </a:p>
          <a:p>
            <a:pPr algn="ctr"/>
            <a:r>
              <a:rPr lang="en-US" sz="1200" dirty="0"/>
              <a:t>Context</a:t>
            </a:r>
          </a:p>
          <a:p>
            <a:pPr algn="ctr"/>
            <a:r>
              <a:rPr lang="en-US" sz="1200" dirty="0"/>
              <a:t>Documents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(Versioned SCD’s)</a:t>
            </a:r>
          </a:p>
        </p:txBody>
      </p:sp>
      <p:pic>
        <p:nvPicPr>
          <p:cNvPr id="17" name="Graphic 16" descr="Children outline">
            <a:extLst>
              <a:ext uri="{FF2B5EF4-FFF2-40B4-BE49-F238E27FC236}">
                <a16:creationId xmlns:a16="http://schemas.microsoft.com/office/drawing/2014/main" id="{43331919-90EF-213C-48BB-045A614ED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152" y="1503361"/>
            <a:ext cx="914400" cy="914400"/>
          </a:xfrm>
          <a:prstGeom prst="rect">
            <a:avLst/>
          </a:prstGeom>
        </p:spPr>
      </p:pic>
      <p:pic>
        <p:nvPicPr>
          <p:cNvPr id="19" name="Graphic 18" descr="Children with solid fill">
            <a:extLst>
              <a:ext uri="{FF2B5EF4-FFF2-40B4-BE49-F238E27FC236}">
                <a16:creationId xmlns:a16="http://schemas.microsoft.com/office/drawing/2014/main" id="{8B39F4F7-FEA0-36FB-C86C-225FA8A05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152" y="2837329"/>
            <a:ext cx="914400" cy="914400"/>
          </a:xfrm>
          <a:prstGeom prst="rect">
            <a:avLst/>
          </a:prstGeom>
        </p:spPr>
      </p:pic>
      <p:pic>
        <p:nvPicPr>
          <p:cNvPr id="21" name="Graphic 20" descr="Office worker male with solid fill">
            <a:extLst>
              <a:ext uri="{FF2B5EF4-FFF2-40B4-BE49-F238E27FC236}">
                <a16:creationId xmlns:a16="http://schemas.microsoft.com/office/drawing/2014/main" id="{E3997895-6787-1EF9-9025-5B832EFC69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7152" y="4171297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71F188C-8376-EEF1-FE5D-F9830A5581CA}"/>
              </a:ext>
            </a:extLst>
          </p:cNvPr>
          <p:cNvSpPr txBox="1"/>
          <p:nvPr/>
        </p:nvSpPr>
        <p:spPr>
          <a:xfrm>
            <a:off x="704856" y="2246837"/>
            <a:ext cx="1165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Project Team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E42159-CDCA-FCF2-9ECA-EABC62B1B6BA}"/>
              </a:ext>
            </a:extLst>
          </p:cNvPr>
          <p:cNvSpPr txBox="1"/>
          <p:nvPr/>
        </p:nvSpPr>
        <p:spPr>
          <a:xfrm>
            <a:off x="579021" y="3586592"/>
            <a:ext cx="14654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Standards Bodies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AF5568-4594-AAA1-6D29-C437515E024A}"/>
              </a:ext>
            </a:extLst>
          </p:cNvPr>
          <p:cNvSpPr txBox="1"/>
          <p:nvPr/>
        </p:nvSpPr>
        <p:spPr>
          <a:xfrm>
            <a:off x="849127" y="5085697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Investors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14A9EE-0F0E-0BAF-C82B-0A5E9E14B55E}"/>
              </a:ext>
            </a:extLst>
          </p:cNvPr>
          <p:cNvSpPr txBox="1"/>
          <p:nvPr/>
        </p:nvSpPr>
        <p:spPr>
          <a:xfrm>
            <a:off x="5422309" y="4089693"/>
            <a:ext cx="1508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Project Guardrails</a:t>
            </a:r>
          </a:p>
          <a:p>
            <a:pPr algn="ctr"/>
            <a:r>
              <a:rPr lang="en-US" sz="1200" dirty="0"/>
              <a:t>aka</a:t>
            </a:r>
          </a:p>
          <a:p>
            <a:pPr algn="ctr"/>
            <a:r>
              <a:rPr lang="en-US" sz="1200" dirty="0"/>
              <a:t>Contracts</a:t>
            </a:r>
          </a:p>
        </p:txBody>
      </p:sp>
      <p:pic>
        <p:nvPicPr>
          <p:cNvPr id="28" name="Graphic 27" descr="Tools outline">
            <a:extLst>
              <a:ext uri="{FF2B5EF4-FFF2-40B4-BE49-F238E27FC236}">
                <a16:creationId xmlns:a16="http://schemas.microsoft.com/office/drawing/2014/main" id="{62DBA7B3-2F2C-A745-0E8F-C24ED14798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3882" y="2837329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CAFAFCE-C2B8-0FE8-024A-FD744CCCABCE}"/>
              </a:ext>
            </a:extLst>
          </p:cNvPr>
          <p:cNvSpPr txBox="1"/>
          <p:nvPr/>
        </p:nvSpPr>
        <p:spPr>
          <a:xfrm>
            <a:off x="10622231" y="3833332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Builders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A1D6C85-EDC8-9344-EF5C-FABB5AFAA41D}"/>
              </a:ext>
            </a:extLst>
          </p:cNvPr>
          <p:cNvCxnSpPr/>
          <p:nvPr/>
        </p:nvCxnSpPr>
        <p:spPr>
          <a:xfrm>
            <a:off x="1870560" y="2021840"/>
            <a:ext cx="3430645" cy="815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5B7CEAB-1437-0F14-9446-5E6227D5DAAF}"/>
              </a:ext>
            </a:extLst>
          </p:cNvPr>
          <p:cNvCxnSpPr/>
          <p:nvPr/>
        </p:nvCxnSpPr>
        <p:spPr>
          <a:xfrm>
            <a:off x="1956122" y="3385820"/>
            <a:ext cx="33450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9F9C6A-5109-73B9-54A5-B08F6904CF64}"/>
              </a:ext>
            </a:extLst>
          </p:cNvPr>
          <p:cNvCxnSpPr/>
          <p:nvPr/>
        </p:nvCxnSpPr>
        <p:spPr>
          <a:xfrm flipV="1">
            <a:off x="1747777" y="3751729"/>
            <a:ext cx="3553428" cy="984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B9E12B4-DFC0-2276-B9A3-06FF98B9E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300800"/>
              </p:ext>
            </p:extLst>
          </p:nvPr>
        </p:nvGraphicFramePr>
        <p:xfrm>
          <a:off x="2367499" y="2021840"/>
          <a:ext cx="2196011" cy="281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6011">
                  <a:extLst>
                    <a:ext uri="{9D8B030D-6E8A-4147-A177-3AD203B41FA5}">
                      <a16:colId xmlns:a16="http://schemas.microsoft.com/office/drawing/2014/main" val="1588532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Create Context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584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Build the Source of Truth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487734"/>
                  </a:ext>
                </a:extLst>
              </a:tr>
              <a:tr h="1946365">
                <a:tc>
                  <a:txBody>
                    <a:bodyPr/>
                    <a:lstStyle/>
                    <a:p>
                      <a:pPr algn="l"/>
                      <a:endParaRPr lang="en-US" sz="1000" dirty="0"/>
                    </a:p>
                    <a:p>
                      <a:pPr algn="l"/>
                      <a:r>
                        <a:rPr lang="en-US" sz="1000" dirty="0"/>
                        <a:t>Creators: Vision, Design, Architecture, Governance</a:t>
                      </a:r>
                    </a:p>
                    <a:p>
                      <a:pPr algn="l"/>
                      <a:endParaRPr lang="en-US" sz="1000" dirty="0"/>
                    </a:p>
                    <a:p>
                      <a:pPr algn="l"/>
                      <a:r>
                        <a:rPr lang="en-US" sz="1000" dirty="0"/>
                        <a:t>Inputs: Text, Models, Diagrams, Data</a:t>
                      </a:r>
                    </a:p>
                    <a:p>
                      <a:pPr algn="l"/>
                      <a:endParaRPr lang="en-US" sz="1000" dirty="0"/>
                    </a:p>
                    <a:p>
                      <a:pPr algn="l"/>
                      <a:r>
                        <a:rPr lang="en-US" sz="1000" dirty="0"/>
                        <a:t>Outputs: Structured Context definitions (SCID, Contracts, Models)</a:t>
                      </a:r>
                    </a:p>
                    <a:p>
                      <a:pPr algn="l"/>
                      <a:endParaRPr lang="en-US" sz="1000" dirty="0"/>
                    </a:p>
                    <a:p>
                      <a:pPr algn="l"/>
                      <a:r>
                        <a:rPr lang="en-US" sz="1000" dirty="0"/>
                        <a:t>Goal: Define intent, scope, rules, and boundaries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750825"/>
                  </a:ext>
                </a:extLst>
              </a:tr>
            </a:tbl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6723512-F1B2-1112-0748-6B260BFA4541}"/>
              </a:ext>
            </a:extLst>
          </p:cNvPr>
          <p:cNvCxnSpPr/>
          <p:nvPr/>
        </p:nvCxnSpPr>
        <p:spPr>
          <a:xfrm>
            <a:off x="7060557" y="3294529"/>
            <a:ext cx="3379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B470047-A735-A978-903F-CD85C4E9F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00833"/>
              </p:ext>
            </p:extLst>
          </p:nvPr>
        </p:nvGraphicFramePr>
        <p:xfrm>
          <a:off x="7648833" y="1935480"/>
          <a:ext cx="2196011" cy="290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6011">
                  <a:extLst>
                    <a:ext uri="{9D8B030D-6E8A-4147-A177-3AD203B41FA5}">
                      <a16:colId xmlns:a16="http://schemas.microsoft.com/office/drawing/2014/main" val="1588532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Leverage Context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584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Build, Test, and Govern Through Context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487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i="1" dirty="0"/>
                        <a:t>Consumers: Developers, Testers, Analysts, AI Agents</a:t>
                      </a:r>
                    </a:p>
                    <a:p>
                      <a:pPr algn="l"/>
                      <a:endParaRPr lang="en-US" sz="1000" i="1" dirty="0"/>
                    </a:p>
                    <a:p>
                      <a:pPr algn="l"/>
                      <a:r>
                        <a:rPr lang="en-US" sz="1000" i="1" dirty="0"/>
                        <a:t>Activities: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i="1" dirty="0"/>
                        <a:t>Build systems aligned with definitions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i="1" dirty="0"/>
                        <a:t>Generate and validate code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i="1" dirty="0"/>
                        <a:t>Execute automated testing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i="1" dirty="0"/>
                        <a:t>Apply guardrails and measure KPIs</a:t>
                      </a:r>
                    </a:p>
                    <a:p>
                      <a:pPr algn="l"/>
                      <a:endParaRPr lang="en-US" sz="1000" i="1" dirty="0"/>
                    </a:p>
                    <a:p>
                      <a:pPr algn="l"/>
                      <a:r>
                        <a:rPr lang="en-US" sz="1000" i="1" dirty="0"/>
                        <a:t>Goal: Deliver outcomes that remain true to intent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750825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49DA0D83-9B0A-55AC-F317-54ED3C760A72}"/>
              </a:ext>
            </a:extLst>
          </p:cNvPr>
          <p:cNvSpPr txBox="1"/>
          <p:nvPr/>
        </p:nvSpPr>
        <p:spPr>
          <a:xfrm>
            <a:off x="5532114" y="227435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Source of Truth</a:t>
            </a:r>
          </a:p>
        </p:txBody>
      </p:sp>
    </p:spTree>
    <p:extLst>
      <p:ext uri="{BB962C8B-B14F-4D97-AF65-F5344CB8AC3E}">
        <p14:creationId xmlns:p14="http://schemas.microsoft.com/office/powerpoint/2010/main" val="94705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599B-A4CB-1F62-DD62-2DACE4FBB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9703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Structured Context Documents (SCDs)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05B933-E193-8D6C-3ED5-65D22CD53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182" y="296957"/>
            <a:ext cx="4701658" cy="5564094"/>
          </a:xfrm>
          <a:prstGeom prst="rect">
            <a:avLst/>
          </a:prstGeom>
          <a:noFill/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91837CD-4CEA-BB4C-EA6A-74C8A2A060AA}"/>
              </a:ext>
            </a:extLst>
          </p:cNvPr>
          <p:cNvSpPr txBox="1">
            <a:spLocks/>
          </p:cNvSpPr>
          <p:nvPr/>
        </p:nvSpPr>
        <p:spPr>
          <a:xfrm>
            <a:off x="839788" y="1551008"/>
            <a:ext cx="4415118" cy="4317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kern="1200" dirty="0">
                <a:latin typeface="+mn-lt"/>
                <a:ea typeface="+mn-ea"/>
                <a:cs typeface="+mn-cs"/>
              </a:rPr>
              <a:t>Structured context is represented as either JSON or YAML. </a:t>
            </a:r>
          </a:p>
          <a:p>
            <a:pPr marL="0" indent="0">
              <a:buNone/>
            </a:pPr>
            <a:r>
              <a:rPr lang="en-US" sz="1600" kern="1200" dirty="0">
                <a:latin typeface="+mn-lt"/>
                <a:ea typeface="+mn-ea"/>
                <a:cs typeface="+mn-cs"/>
              </a:rPr>
              <a:t>AI Agent tran</a:t>
            </a:r>
            <a:r>
              <a:rPr lang="en-US" sz="1600" dirty="0"/>
              <a:t>sforms specifications, documents, tables, drawings into SCDs</a:t>
            </a:r>
            <a:endParaRPr lang="en-US" sz="1600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600" dirty="0"/>
              <a:t>SCDs are both machine and human readable.</a:t>
            </a:r>
          </a:p>
          <a:p>
            <a:pPr marL="0" indent="0">
              <a:buNone/>
            </a:pPr>
            <a:r>
              <a:rPr lang="en-US" sz="1600" dirty="0"/>
              <a:t>SCDs provide AI with meta data (context) for Generative Tasks.</a:t>
            </a:r>
          </a:p>
          <a:p>
            <a:pPr marL="0" indent="0">
              <a:buNone/>
            </a:pPr>
            <a:r>
              <a:rPr lang="en-US" sz="1600" dirty="0"/>
              <a:t>Provides Humans with explicit yet concise contract for development criteria.</a:t>
            </a:r>
          </a:p>
        </p:txBody>
      </p:sp>
    </p:spTree>
    <p:extLst>
      <p:ext uri="{BB962C8B-B14F-4D97-AF65-F5344CB8AC3E}">
        <p14:creationId xmlns:p14="http://schemas.microsoft.com/office/powerpoint/2010/main" val="557616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04E8E-FBD2-3A9B-1EBA-3E85C5B1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SCD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1E758-B54D-C5DC-77A6-A232B91FC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D780D-D31D-5914-FAA7-DA960354E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0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D322B3-C2B5-8FF9-D217-D912BB09B919}"/>
              </a:ext>
            </a:extLst>
          </p:cNvPr>
          <p:cNvSpPr/>
          <p:nvPr/>
        </p:nvSpPr>
        <p:spPr>
          <a:xfrm>
            <a:off x="3331597" y="389614"/>
            <a:ext cx="3387255" cy="51762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B44FF-0AFE-5CD8-99F0-17ADC83E6D0F}"/>
              </a:ext>
            </a:extLst>
          </p:cNvPr>
          <p:cNvSpPr/>
          <p:nvPr/>
        </p:nvSpPr>
        <p:spPr>
          <a:xfrm>
            <a:off x="3991551" y="1485033"/>
            <a:ext cx="1969273" cy="5314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46F2AB-C164-D643-A302-6050F3DA2B63}"/>
              </a:ext>
            </a:extLst>
          </p:cNvPr>
          <p:cNvSpPr/>
          <p:nvPr/>
        </p:nvSpPr>
        <p:spPr>
          <a:xfrm>
            <a:off x="3991543" y="2559596"/>
            <a:ext cx="1969273" cy="74219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nip and Round Single Corner Rectangle 12">
            <a:extLst>
              <a:ext uri="{FF2B5EF4-FFF2-40B4-BE49-F238E27FC236}">
                <a16:creationId xmlns:a16="http://schemas.microsoft.com/office/drawing/2014/main" id="{05F38BEA-49B6-CF1D-3211-F59D0192BF04}"/>
              </a:ext>
            </a:extLst>
          </p:cNvPr>
          <p:cNvSpPr/>
          <p:nvPr/>
        </p:nvSpPr>
        <p:spPr>
          <a:xfrm>
            <a:off x="3466248" y="610869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116199-F1BE-9456-EECE-07B706913542}"/>
              </a:ext>
            </a:extLst>
          </p:cNvPr>
          <p:cNvSpPr/>
          <p:nvPr/>
        </p:nvSpPr>
        <p:spPr>
          <a:xfrm>
            <a:off x="3991548" y="3736438"/>
            <a:ext cx="1969273" cy="2653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775D59-BD09-AFAE-3289-316E5A467D71}"/>
              </a:ext>
            </a:extLst>
          </p:cNvPr>
          <p:cNvSpPr/>
          <p:nvPr/>
        </p:nvSpPr>
        <p:spPr>
          <a:xfrm>
            <a:off x="3991544" y="4048196"/>
            <a:ext cx="1969273" cy="2653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D8A470-74FE-4888-3FC8-BA77B24211DF}"/>
              </a:ext>
            </a:extLst>
          </p:cNvPr>
          <p:cNvSpPr/>
          <p:nvPr/>
        </p:nvSpPr>
        <p:spPr>
          <a:xfrm>
            <a:off x="3991543" y="4576207"/>
            <a:ext cx="1969273" cy="2653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556DB4-1F27-F88E-8477-3E2EC791EEB6}"/>
              </a:ext>
            </a:extLst>
          </p:cNvPr>
          <p:cNvSpPr txBox="1"/>
          <p:nvPr/>
        </p:nvSpPr>
        <p:spPr>
          <a:xfrm>
            <a:off x="4822319" y="4175289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CA031E-04EA-EA16-EC77-E20FFADE7260}"/>
              </a:ext>
            </a:extLst>
          </p:cNvPr>
          <p:cNvSpPr txBox="1"/>
          <p:nvPr/>
        </p:nvSpPr>
        <p:spPr>
          <a:xfrm>
            <a:off x="1419282" y="371193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Project Bundle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B050"/>
                </a:solidFill>
              </a:rPr>
              <a:t>1 per project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B050"/>
                </a:solidFill>
              </a:rPr>
              <a:t>Versioned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FB5C3A-E671-FBAB-F937-26D4BB71782A}"/>
              </a:ext>
            </a:extLst>
          </p:cNvPr>
          <p:cNvSpPr txBox="1"/>
          <p:nvPr/>
        </p:nvSpPr>
        <p:spPr>
          <a:xfrm>
            <a:off x="267427" y="1365547"/>
            <a:ext cx="2844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Meta Bundle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1 per project bundle, root bundle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Versioned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31D80A-57D0-C77F-CC8F-F10ED02FA3FA}"/>
              </a:ext>
            </a:extLst>
          </p:cNvPr>
          <p:cNvSpPr txBox="1"/>
          <p:nvPr/>
        </p:nvSpPr>
        <p:spPr>
          <a:xfrm>
            <a:off x="267427" y="2359901"/>
            <a:ext cx="2844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Standards Bundle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70C0"/>
                </a:solidFill>
              </a:rPr>
              <a:t>1 per project bundle, root bundle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70C0"/>
                </a:solidFill>
              </a:rPr>
              <a:t>May contain other bundles (HIPAA or SOC2) or SCDs (corporate standards)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70C0"/>
                </a:solidFill>
              </a:rPr>
              <a:t>Versioned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29B3FA-8D0D-1F6E-72EA-644B6A1B855F}"/>
              </a:ext>
            </a:extLst>
          </p:cNvPr>
          <p:cNvSpPr txBox="1"/>
          <p:nvPr/>
        </p:nvSpPr>
        <p:spPr>
          <a:xfrm>
            <a:off x="267427" y="3871988"/>
            <a:ext cx="25153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Domain Bundles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7030A0"/>
                </a:solidFill>
              </a:rPr>
              <a:t>10 core bundles, no duplicates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7030A0"/>
                </a:solidFill>
              </a:rPr>
              <a:t>Contains only SCDs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7030A0"/>
                </a:solidFill>
              </a:rPr>
              <a:t>Customer may add more but the 10 core are the minimum prescribed set.</a:t>
            </a:r>
          </a:p>
        </p:txBody>
      </p:sp>
      <p:sp>
        <p:nvSpPr>
          <p:cNvPr id="25" name="Snip and Round Single Corner Rectangle 24">
            <a:extLst>
              <a:ext uri="{FF2B5EF4-FFF2-40B4-BE49-F238E27FC236}">
                <a16:creationId xmlns:a16="http://schemas.microsoft.com/office/drawing/2014/main" id="{96EDE83A-53A8-033F-8FF3-49BCA416B094}"/>
              </a:ext>
            </a:extLst>
          </p:cNvPr>
          <p:cNvSpPr/>
          <p:nvPr/>
        </p:nvSpPr>
        <p:spPr>
          <a:xfrm>
            <a:off x="4058595" y="1532619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26" name="Snip and Round Single Corner Rectangle 25">
            <a:extLst>
              <a:ext uri="{FF2B5EF4-FFF2-40B4-BE49-F238E27FC236}">
                <a16:creationId xmlns:a16="http://schemas.microsoft.com/office/drawing/2014/main" id="{040ED393-4AA3-09D7-3F60-3756270A6928}"/>
              </a:ext>
            </a:extLst>
          </p:cNvPr>
          <p:cNvSpPr/>
          <p:nvPr/>
        </p:nvSpPr>
        <p:spPr>
          <a:xfrm>
            <a:off x="4058595" y="2625972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27" name="Snip and Round Single Corner Rectangle 26">
            <a:extLst>
              <a:ext uri="{FF2B5EF4-FFF2-40B4-BE49-F238E27FC236}">
                <a16:creationId xmlns:a16="http://schemas.microsoft.com/office/drawing/2014/main" id="{B6D3F936-8F3C-633D-1F8B-3DC789746844}"/>
              </a:ext>
            </a:extLst>
          </p:cNvPr>
          <p:cNvSpPr/>
          <p:nvPr/>
        </p:nvSpPr>
        <p:spPr>
          <a:xfrm>
            <a:off x="4048331" y="3792721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28" name="Snip and Round Single Corner Rectangle 27">
            <a:extLst>
              <a:ext uri="{FF2B5EF4-FFF2-40B4-BE49-F238E27FC236}">
                <a16:creationId xmlns:a16="http://schemas.microsoft.com/office/drawing/2014/main" id="{3703A1D0-11F7-9839-F6C3-0F0D8BD5B763}"/>
              </a:ext>
            </a:extLst>
          </p:cNvPr>
          <p:cNvSpPr/>
          <p:nvPr/>
        </p:nvSpPr>
        <p:spPr>
          <a:xfrm>
            <a:off x="4048331" y="4104554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29" name="Snip and Round Single Corner Rectangle 28">
            <a:extLst>
              <a:ext uri="{FF2B5EF4-FFF2-40B4-BE49-F238E27FC236}">
                <a16:creationId xmlns:a16="http://schemas.microsoft.com/office/drawing/2014/main" id="{9141949A-7E5B-F96F-D4C4-8F966AD831C5}"/>
              </a:ext>
            </a:extLst>
          </p:cNvPr>
          <p:cNvSpPr/>
          <p:nvPr/>
        </p:nvSpPr>
        <p:spPr>
          <a:xfrm>
            <a:off x="4058595" y="4617726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9E8D85-47FA-B91B-0696-C1AC68E40BD1}"/>
              </a:ext>
            </a:extLst>
          </p:cNvPr>
          <p:cNvSpPr txBox="1"/>
          <p:nvPr/>
        </p:nvSpPr>
        <p:spPr>
          <a:xfrm>
            <a:off x="7522232" y="1263820"/>
            <a:ext cx="3899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Each bundle must contain a Manifest</a:t>
            </a:r>
          </a:p>
          <a:p>
            <a:endParaRPr lang="en-US" sz="1200" dirty="0"/>
          </a:p>
          <a:p>
            <a:r>
              <a:rPr lang="en-US" sz="1200" dirty="0"/>
              <a:t>Manifest is a special SCD with a header and lists all content (and versions of each document)</a:t>
            </a:r>
          </a:p>
          <a:p>
            <a:endParaRPr lang="en-US" sz="1200" dirty="0"/>
          </a:p>
          <a:p>
            <a:r>
              <a:rPr lang="en-US" sz="1200" dirty="0"/>
              <a:t>4 types of bundles: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Project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Meta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Standards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Domain</a:t>
            </a:r>
          </a:p>
          <a:p>
            <a:endParaRPr lang="en-US" sz="1200" dirty="0"/>
          </a:p>
          <a:p>
            <a:r>
              <a:rPr lang="en-US" sz="1200" dirty="0"/>
              <a:t>Each bundle must contain a manifest at least 2 SCDs</a:t>
            </a:r>
          </a:p>
          <a:p>
            <a:endParaRPr lang="en-US" sz="1200" dirty="0"/>
          </a:p>
          <a:p>
            <a:r>
              <a:rPr lang="en-US" sz="1200" dirty="0"/>
              <a:t>All domains require a bundle (with manifest)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950C4E-14CA-E484-450D-345B46BB534C}"/>
              </a:ext>
            </a:extLst>
          </p:cNvPr>
          <p:cNvSpPr txBox="1"/>
          <p:nvPr/>
        </p:nvSpPr>
        <p:spPr>
          <a:xfrm>
            <a:off x="4616193" y="3739611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Domain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AF19D5-3C48-92DD-C2D3-8DA786D75923}"/>
              </a:ext>
            </a:extLst>
          </p:cNvPr>
          <p:cNvSpPr txBox="1"/>
          <p:nvPr/>
        </p:nvSpPr>
        <p:spPr>
          <a:xfrm>
            <a:off x="4534440" y="2821565"/>
            <a:ext cx="938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Standards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EE547D-F5CB-5947-328A-0EC7DC83A337}"/>
              </a:ext>
            </a:extLst>
          </p:cNvPr>
          <p:cNvSpPr txBox="1"/>
          <p:nvPr/>
        </p:nvSpPr>
        <p:spPr>
          <a:xfrm>
            <a:off x="4711571" y="1606570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1AC6AF-6648-C6D5-6C58-E81025D81D33}"/>
              </a:ext>
            </a:extLst>
          </p:cNvPr>
          <p:cNvSpPr txBox="1"/>
          <p:nvPr/>
        </p:nvSpPr>
        <p:spPr>
          <a:xfrm>
            <a:off x="4616193" y="4068136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Domain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9DC5B6-6914-0C5D-E7A6-CD3F319317C2}"/>
              </a:ext>
            </a:extLst>
          </p:cNvPr>
          <p:cNvSpPr txBox="1"/>
          <p:nvPr/>
        </p:nvSpPr>
        <p:spPr>
          <a:xfrm>
            <a:off x="4616193" y="4576207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Domain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8329EC6-36FF-759C-0922-44CC3FA5F21E}"/>
              </a:ext>
            </a:extLst>
          </p:cNvPr>
          <p:cNvCxnSpPr/>
          <p:nvPr/>
        </p:nvCxnSpPr>
        <p:spPr>
          <a:xfrm>
            <a:off x="2782734" y="715992"/>
            <a:ext cx="5488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839CD2A-F994-A924-E722-C70A55EF0084}"/>
              </a:ext>
            </a:extLst>
          </p:cNvPr>
          <p:cNvCxnSpPr>
            <a:stCxn id="22" idx="3"/>
          </p:cNvCxnSpPr>
          <p:nvPr/>
        </p:nvCxnSpPr>
        <p:spPr>
          <a:xfrm>
            <a:off x="3111475" y="1688713"/>
            <a:ext cx="880068" cy="10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9A3FAEA-499A-4595-F168-4149EB255F9F}"/>
              </a:ext>
            </a:extLst>
          </p:cNvPr>
          <p:cNvCxnSpPr/>
          <p:nvPr/>
        </p:nvCxnSpPr>
        <p:spPr>
          <a:xfrm>
            <a:off x="3183147" y="2958860"/>
            <a:ext cx="8083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4" name="Left Brace 43">
            <a:extLst>
              <a:ext uri="{FF2B5EF4-FFF2-40B4-BE49-F238E27FC236}">
                <a16:creationId xmlns:a16="http://schemas.microsoft.com/office/drawing/2014/main" id="{38A862B0-41BA-F780-10DB-9C291852A737}"/>
              </a:ext>
            </a:extLst>
          </p:cNvPr>
          <p:cNvSpPr/>
          <p:nvPr/>
        </p:nvSpPr>
        <p:spPr>
          <a:xfrm>
            <a:off x="3579962" y="3614470"/>
            <a:ext cx="229198" cy="1319842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138F270-2574-F2D4-6589-7FA03A529E32}"/>
              </a:ext>
            </a:extLst>
          </p:cNvPr>
          <p:cNvCxnSpPr/>
          <p:nvPr/>
        </p:nvCxnSpPr>
        <p:spPr>
          <a:xfrm>
            <a:off x="2510287" y="4271532"/>
            <a:ext cx="9559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47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9414-A5E1-1614-2C74-C3CA2CFDD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SCDs for Projects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2DD0A5-3C6A-7994-69DD-C7F154267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320460" cy="404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72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5427A-D290-A724-F108-47C85BD4B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SCDs for Standards</a:t>
            </a:r>
          </a:p>
        </p:txBody>
      </p:sp>
    </p:spTree>
    <p:extLst>
      <p:ext uri="{BB962C8B-B14F-4D97-AF65-F5344CB8AC3E}">
        <p14:creationId xmlns:p14="http://schemas.microsoft.com/office/powerpoint/2010/main" val="2353492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445BA-B015-906A-D6A2-BBE6237A9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Dive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52021-9F9C-2568-96D5-FDB4ACDA7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PPT in process</a:t>
            </a:r>
          </a:p>
        </p:txBody>
      </p:sp>
    </p:spTree>
    <p:extLst>
      <p:ext uri="{BB962C8B-B14F-4D97-AF65-F5344CB8AC3E}">
        <p14:creationId xmlns:p14="http://schemas.microsoft.com/office/powerpoint/2010/main" val="4117839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C173-8E45-FEC9-7B89-539C65793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  <a:br>
              <a:rPr lang="en-US" dirty="0"/>
            </a:br>
            <a:r>
              <a:rPr lang="en-US" sz="1800" dirty="0"/>
              <a:t>(reference implementation)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77A1B-B348-470A-4138-CD9EBB450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PPT in process</a:t>
            </a:r>
          </a:p>
        </p:txBody>
      </p:sp>
    </p:spTree>
    <p:extLst>
      <p:ext uri="{BB962C8B-B14F-4D97-AF65-F5344CB8AC3E}">
        <p14:creationId xmlns:p14="http://schemas.microsoft.com/office/powerpoint/2010/main" val="453833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0FDF-41A8-EBE5-FE90-643D9ABF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2AC37-C3D8-F919-09BA-42628980B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850" y="992187"/>
            <a:ext cx="6407921" cy="48736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/>
              <a:t>Vision • Design • Build • Govern</a:t>
            </a:r>
          </a:p>
          <a:p>
            <a:pPr marL="0" indent="0" algn="ctr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1400" dirty="0"/>
              <a:t>Vision — defines intent and value (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leaders, stakeholders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Design — shapes structure and flow (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architects, analysts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Build — implements and adapts (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developers, engineers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Govern — ensures continuity and integrity (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managers, compliance, AI</a:t>
            </a:r>
            <a:r>
              <a:rPr lang="en-US" sz="1400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7E496-BFA8-22B5-6ADC-93B544781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Each team member works with an AI Assistant.  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Formerly: Extreme Programming (XP)</a:t>
            </a:r>
          </a:p>
          <a:p>
            <a:pPr>
              <a:lnSpc>
                <a:spcPct val="100000"/>
              </a:lnSpc>
            </a:pPr>
            <a:r>
              <a:rPr lang="en-US" dirty="0"/>
              <a:t>Now: Extended Programming (</a:t>
            </a:r>
            <a:r>
              <a:rPr lang="en-US" dirty="0" err="1"/>
              <a:t>ExP</a:t>
            </a:r>
            <a:r>
              <a:rPr lang="en-US" dirty="0"/>
              <a:t>)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All accountable roles are part of the team (with their personal AI Assistant), each with defined responsibilities and a shared contract.</a:t>
            </a:r>
          </a:p>
        </p:txBody>
      </p:sp>
    </p:spTree>
    <p:extLst>
      <p:ext uri="{BB962C8B-B14F-4D97-AF65-F5344CB8AC3E}">
        <p14:creationId xmlns:p14="http://schemas.microsoft.com/office/powerpoint/2010/main" val="4245134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7C75-4729-07E1-6746-489B12CC9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Layers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B29825-A1D6-A2C4-1942-D58B4CA87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383441"/>
              </p:ext>
            </p:extLst>
          </p:nvPr>
        </p:nvGraphicFramePr>
        <p:xfrm>
          <a:off x="838199" y="1690688"/>
          <a:ext cx="10334896" cy="421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3724">
                  <a:extLst>
                    <a:ext uri="{9D8B030D-6E8A-4147-A177-3AD203B41FA5}">
                      <a16:colId xmlns:a16="http://schemas.microsoft.com/office/drawing/2014/main" val="4079771654"/>
                    </a:ext>
                  </a:extLst>
                </a:gridCol>
                <a:gridCol w="2583724">
                  <a:extLst>
                    <a:ext uri="{9D8B030D-6E8A-4147-A177-3AD203B41FA5}">
                      <a16:colId xmlns:a16="http://schemas.microsoft.com/office/drawing/2014/main" val="3088214061"/>
                    </a:ext>
                  </a:extLst>
                </a:gridCol>
                <a:gridCol w="2583724">
                  <a:extLst>
                    <a:ext uri="{9D8B030D-6E8A-4147-A177-3AD203B41FA5}">
                      <a16:colId xmlns:a16="http://schemas.microsoft.com/office/drawing/2014/main" val="3461240253"/>
                    </a:ext>
                  </a:extLst>
                </a:gridCol>
                <a:gridCol w="2583724">
                  <a:extLst>
                    <a:ext uri="{9D8B030D-6E8A-4147-A177-3AD203B41FA5}">
                      <a16:colId xmlns:a16="http://schemas.microsoft.com/office/drawing/2014/main" val="700214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Govern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51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Defines why the system exists and what value it delivers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Shapes how the system achieves intent within defined boundaries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Implements and evolves the designed system through living code and context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Ensures continuity, integrity, and alignment across all components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53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• System Concept &amp; Intent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Purpose, scope, outcomes, and success metrics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Stakeholders, constraints, dependencies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Establish initial context boundaries for AI and humans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• Architecture models (System → Assembly → Component)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Data models, interfaces, and contracts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Context structure (definitions, Inputs, outputs, constraints)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Governance hooks for compliance and telemetry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• Develop Components within scope of contracts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Maintain synchronized context files with code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Perform continuous testing, validation, and integration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Generate autonomic documentation (self-updating via context)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• Manage versioned context and configuration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Monitor compliance, telemetry, and performance metrics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Validate alignment to intent and scope (closed-loop feedback)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Oversee AI behavior, bias, and transparency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8457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693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152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8B3C-4131-7B68-5BD9-58B120D5E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386A-3FD8-59AB-0275-B25383A9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1B3F5F-76EB-8F83-6B7C-050641D64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474632"/>
              </p:ext>
            </p:extLst>
          </p:nvPr>
        </p:nvGraphicFramePr>
        <p:xfrm>
          <a:off x="719546" y="1577476"/>
          <a:ext cx="10752908" cy="421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8227">
                  <a:extLst>
                    <a:ext uri="{9D8B030D-6E8A-4147-A177-3AD203B41FA5}">
                      <a16:colId xmlns:a16="http://schemas.microsoft.com/office/drawing/2014/main" val="4079771654"/>
                    </a:ext>
                  </a:extLst>
                </a:gridCol>
                <a:gridCol w="2688227">
                  <a:extLst>
                    <a:ext uri="{9D8B030D-6E8A-4147-A177-3AD203B41FA5}">
                      <a16:colId xmlns:a16="http://schemas.microsoft.com/office/drawing/2014/main" val="3088214061"/>
                    </a:ext>
                  </a:extLst>
                </a:gridCol>
                <a:gridCol w="2688227">
                  <a:extLst>
                    <a:ext uri="{9D8B030D-6E8A-4147-A177-3AD203B41FA5}">
                      <a16:colId xmlns:a16="http://schemas.microsoft.com/office/drawing/2014/main" val="3461240253"/>
                    </a:ext>
                  </a:extLst>
                </a:gridCol>
                <a:gridCol w="2688227">
                  <a:extLst>
                    <a:ext uri="{9D8B030D-6E8A-4147-A177-3AD203B41FA5}">
                      <a16:colId xmlns:a16="http://schemas.microsoft.com/office/drawing/2014/main" val="700214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Govern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51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Defines why the system exists and what value it delivers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Shapes how the system achieves intent within defined boundaries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Implements and evolves the designed system through living code and context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Ensures continuity, integrity, and alignment across all components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53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Product Manager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Investment Board / Executive Sponsor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CFO / CSO (strategy, risk, funding)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Clinical / Domain Leads (where applicable)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 Vision Assistant (maintains SCID, value tracking)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Enterprise Architect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Solution Architect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Business / Data Analyst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UX / Service Designer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QA / Test Architect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 Design Assistant (context modeling, compliance mapping)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Developers / Engineers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 Agents / Developers (for specialized components)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DevOps / </a:t>
                      </a:r>
                      <a:r>
                        <a:rPr lang="en-US" sz="1200" dirty="0" err="1"/>
                        <a:t>MLOps</a:t>
                      </a:r>
                      <a:r>
                        <a:rPr lang="en-US" sz="1200" dirty="0"/>
                        <a:t> Engineers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Data Engineers / Model Trainers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Test Automation / Integration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 Build Assistant (code + test generation, validation)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Governance Manager / Compliance Officer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Security &amp; Privacy Lead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Performance / Reliability Engineer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Infrastructure / Platform Engineer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 Governance Assistant (policy checks, bias monitoring, telemetry validation)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8457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693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568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14705</TotalTime>
  <Words>1315</Words>
  <Application>Microsoft Macintosh PowerPoint</Application>
  <PresentationFormat>Widescreen</PresentationFormat>
  <Paragraphs>301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Century Gothic</vt:lpstr>
      <vt:lpstr>Office Theme</vt:lpstr>
      <vt:lpstr>Context Engineering Development Model (CEDM)</vt:lpstr>
      <vt:lpstr>Context Engineering Development Model</vt:lpstr>
      <vt:lpstr>Book Outline</vt:lpstr>
      <vt:lpstr>Introduction</vt:lpstr>
      <vt:lpstr>PowerPoint Presentation</vt:lpstr>
      <vt:lpstr>Today’s Development Teams</vt:lpstr>
      <vt:lpstr>What is forcing the change?</vt:lpstr>
      <vt:lpstr>Context Engineering Lingo Level Set:</vt:lpstr>
      <vt:lpstr>PowerPoint Presentation</vt:lpstr>
      <vt:lpstr>Structured Context Documents (SCDs)</vt:lpstr>
      <vt:lpstr>SCD Specification</vt:lpstr>
      <vt:lpstr>PowerPoint Presentation</vt:lpstr>
      <vt:lpstr>SCDs for Projects</vt:lpstr>
      <vt:lpstr>SCDs for Standards</vt:lpstr>
      <vt:lpstr>Deep Dive</vt:lpstr>
      <vt:lpstr>Case Study  (reference implementation)</vt:lpstr>
      <vt:lpstr>Teams</vt:lpstr>
      <vt:lpstr>Team Layers</vt:lpstr>
      <vt:lpstr>Team Members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McCrimmon</dc:creator>
  <cp:lastModifiedBy>Timothy McCrimmon</cp:lastModifiedBy>
  <cp:revision>48</cp:revision>
  <dcterms:created xsi:type="dcterms:W3CDTF">2025-08-14T19:36:48Z</dcterms:created>
  <dcterms:modified xsi:type="dcterms:W3CDTF">2025-11-21T15:37:51Z</dcterms:modified>
</cp:coreProperties>
</file>